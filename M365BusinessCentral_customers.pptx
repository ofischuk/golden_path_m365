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handoutMasterIdLst>
    <p:handoutMasterId r:id="rId29"/>
  </p:handoutMasterIdLst>
  <p:sldIdLst>
    <p:sldId id="292" r:id="rId5"/>
    <p:sldId id="299" r:id="rId6"/>
    <p:sldId id="297" r:id="rId7"/>
    <p:sldId id="276" r:id="rId8"/>
    <p:sldId id="306" r:id="rId9"/>
    <p:sldId id="307" r:id="rId10"/>
    <p:sldId id="308" r:id="rId11"/>
    <p:sldId id="309" r:id="rId12"/>
    <p:sldId id="310" r:id="rId13"/>
    <p:sldId id="311" r:id="rId14"/>
    <p:sldId id="298" r:id="rId15"/>
    <p:sldId id="293" r:id="rId16"/>
    <p:sldId id="314" r:id="rId17"/>
    <p:sldId id="312" r:id="rId18"/>
    <p:sldId id="315" r:id="rId19"/>
    <p:sldId id="303" r:id="rId20"/>
    <p:sldId id="316" r:id="rId21"/>
    <p:sldId id="317" r:id="rId22"/>
    <p:sldId id="318" r:id="rId23"/>
    <p:sldId id="319" r:id="rId24"/>
    <p:sldId id="320" r:id="rId25"/>
    <p:sldId id="321" r:id="rId26"/>
    <p:sldId id="289"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8" d="100"/>
          <a:sy n="78" d="100"/>
        </p:scale>
        <p:origin x="878" y="67"/>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6/5/2026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6/5/2026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C72C-CB40-CE04-5FDD-5446EAF299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455CA-6375-2A2B-C5E0-63A36C32BA70}"/>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A0036B5-F9E2-C944-9695-E7EACC7E53A2}"/>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9D3DB20-31B3-CF65-7DDA-B55CB87B6393}"/>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1686159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58B1-89EA-C39F-5515-A41C12432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C7E16-7D10-C3BA-C644-5CFB67DD119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781E22EF-8F03-58F0-96B9-2652A8B8A57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B8D13D5-9509-FAED-D53F-B75B003462CA}"/>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705463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0094-63EF-08B2-EBD3-01D5801D1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EE3B3-A99D-43AB-8BD0-FFB99EBDA6B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D922D2D-0289-D571-6E5E-3C26EF5DFDCD}"/>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935E41D-CA6A-0707-4323-B50A1FD80B7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2168401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CC470-FDB8-26EB-A8D2-0EBD98C3F1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2C17D-5BC9-255A-A78E-0FC5A2CEFC7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A1B07C0-2DC9-26F2-2196-64AF713A6EB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2B9C874F-FE3E-41A8-5D51-6F94FC0FC19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410143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B7BB1-9AF6-98BB-8E57-537B39551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BC312-4055-9547-203E-72643E720F59}"/>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D06525E-A4D6-EACE-2496-A967948F661F}"/>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D2F5EECA-8F19-8D7B-9094-4ADF8D4AA63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2785029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49419-D33C-C051-712C-E1F2AB734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72D01-E477-0EBE-0E6D-FDC58F76938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8AA8630-BE4B-388F-52C3-E27A2C3A8A8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2A9A5CF-E71C-20EE-DBC8-E78B74612B4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3302198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42426-A03D-3EFE-4AA1-A664421D6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5A06D-D216-E658-BE9C-8E4CC2C30368}"/>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FC37B2D2-1D46-BA9F-C636-B95C5719357C}"/>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865DC99-1982-E23B-9408-CD5EF002A4F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1234184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CB608-2569-C298-B9C8-858D8D2A0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BBC3A-0555-5A25-B418-FD0362F07F63}"/>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92D5F49-0825-4CD1-65AA-75D8A2283595}"/>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D7E08ED-044F-76B9-43F0-3AF0EBF6FAF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2411603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0862-08E7-9E72-3A8C-893DB7E2E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4090E-F2FA-E0EE-7AED-D374621965D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B627D34-E772-6D2B-3A7B-D2F54A5A3E3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B438FA9-81AA-D9F2-7C26-A946215B739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16</a:t>
            </a:fld>
            <a:endParaRPr lang="en-US" altLang="zh-CN" noProof="0" dirty="0"/>
          </a:p>
        </p:txBody>
      </p:sp>
    </p:spTree>
    <p:extLst>
      <p:ext uri="{BB962C8B-B14F-4D97-AF65-F5344CB8AC3E}">
        <p14:creationId xmlns:p14="http://schemas.microsoft.com/office/powerpoint/2010/main" val="1205803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04766-EEEF-9C5D-1D89-2B31B3535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55AE0-63DC-D67A-C8A9-7AD1FB0A1A8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6E328120-9458-C26B-DEC2-5076D454E04B}"/>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23C5015C-BD86-4FF4-5F24-8A6772B302D6}"/>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17</a:t>
            </a:fld>
            <a:endParaRPr lang="en-US" altLang="zh-CN" noProof="0" dirty="0"/>
          </a:p>
        </p:txBody>
      </p:sp>
    </p:spTree>
    <p:extLst>
      <p:ext uri="{BB962C8B-B14F-4D97-AF65-F5344CB8AC3E}">
        <p14:creationId xmlns:p14="http://schemas.microsoft.com/office/powerpoint/2010/main" val="3242414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247FA-2998-C9C9-96A4-4D9EBA73E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4E3FC-2CD4-99F4-C886-2BA1B90CA75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0D7D620F-9B16-9E9E-0FB1-5ACB4C6C7E15}"/>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66E05208-C0BC-E25C-E283-90ABAE60102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18</a:t>
            </a:fld>
            <a:endParaRPr lang="en-US" altLang="zh-CN" noProof="0" dirty="0"/>
          </a:p>
        </p:txBody>
      </p:sp>
    </p:spTree>
    <p:extLst>
      <p:ext uri="{BB962C8B-B14F-4D97-AF65-F5344CB8AC3E}">
        <p14:creationId xmlns:p14="http://schemas.microsoft.com/office/powerpoint/2010/main" val="683318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EE7C-D032-3048-B7F1-25CC40633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6963A-8792-F12C-80AD-7552CB16D5A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C3A716A-3B72-B2F4-5404-0B7A8ED22BDC}"/>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D41992C8-2EA3-7D5D-A6F0-38F848DA465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19</a:t>
            </a:fld>
            <a:endParaRPr lang="en-US" altLang="zh-CN" noProof="0" dirty="0"/>
          </a:p>
        </p:txBody>
      </p:sp>
    </p:spTree>
    <p:extLst>
      <p:ext uri="{BB962C8B-B14F-4D97-AF65-F5344CB8AC3E}">
        <p14:creationId xmlns:p14="http://schemas.microsoft.com/office/powerpoint/2010/main" val="730252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9D455-FFF6-AE6F-82B8-08F08A8FF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53AB6-9E4C-5465-A2C8-60ADB7B798B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FD7E36F1-837B-B4F4-C70A-595A5A601465}"/>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BDC5F2E6-5853-1E23-8FD2-E0BA5BCF7FE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20</a:t>
            </a:fld>
            <a:endParaRPr lang="en-US" altLang="zh-CN" noProof="0" dirty="0"/>
          </a:p>
        </p:txBody>
      </p:sp>
    </p:spTree>
    <p:extLst>
      <p:ext uri="{BB962C8B-B14F-4D97-AF65-F5344CB8AC3E}">
        <p14:creationId xmlns:p14="http://schemas.microsoft.com/office/powerpoint/2010/main" val="34863833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9B91C-B5DE-901A-53F4-1407AD219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FACDD6-C8A9-0C1F-DFFC-F24AB4D94AD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F5F21972-5102-0B12-E9DF-D1BEEAED75E9}"/>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8B7EC4E-5068-ACA6-C85B-9832B191F52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21</a:t>
            </a:fld>
            <a:endParaRPr lang="en-US" altLang="zh-CN" noProof="0" dirty="0"/>
          </a:p>
        </p:txBody>
      </p:sp>
    </p:spTree>
    <p:extLst>
      <p:ext uri="{BB962C8B-B14F-4D97-AF65-F5344CB8AC3E}">
        <p14:creationId xmlns:p14="http://schemas.microsoft.com/office/powerpoint/2010/main" val="12664441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2071D-A829-D554-9C82-AD7EDA774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C7034-0079-22EE-27BF-8DA0676EB06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0E13A40-12D5-6C12-E198-2D46B62F8C96}"/>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ED0B871-8088-53B1-47BA-7EECB3A824F0}"/>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22</a:t>
            </a:fld>
            <a:endParaRPr lang="en-US" altLang="zh-CN" noProof="0" dirty="0"/>
          </a:p>
        </p:txBody>
      </p:sp>
    </p:spTree>
    <p:extLst>
      <p:ext uri="{BB962C8B-B14F-4D97-AF65-F5344CB8AC3E}">
        <p14:creationId xmlns:p14="http://schemas.microsoft.com/office/powerpoint/2010/main" val="32242878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23</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69" r:id="rId4"/>
    <p:sldLayoutId id="2147483655" r:id="rId5"/>
    <p:sldLayoutId id="2147483651" r:id="rId6"/>
    <p:sldLayoutId id="2147483662" r:id="rId7"/>
    <p:sldLayoutId id="2147483653" r:id="rId8"/>
    <p:sldLayoutId id="2147483663" r:id="rId9"/>
    <p:sldLayoutId id="2147483665" r:id="rId10"/>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Customers</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Internal usage only</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normAutofit/>
          </a:bodyPr>
          <a:lstStyle/>
          <a:p>
            <a:r>
              <a:rPr lang="en-US" dirty="0"/>
              <a:t>Basic information about the Company</a:t>
            </a:r>
          </a:p>
          <a:p>
            <a:r>
              <a:rPr lang="en-US" dirty="0"/>
              <a:t>Ask good questions</a:t>
            </a:r>
          </a:p>
          <a:p>
            <a:r>
              <a:rPr lang="en-US" dirty="0"/>
              <a:t>Potential troubles</a:t>
            </a:r>
          </a:p>
          <a:p>
            <a:r>
              <a:rPr lang="en-US" dirty="0"/>
              <a:t>Possible solutions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Basic information</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The first step in getting to know your customer is getting to know what the company does</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altLang="zh-CN" dirty="0"/>
              <a:t>Company size</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a:bodyPr>
          <a:lstStyle/>
          <a:p>
            <a:r>
              <a:rPr lang="en-US" b="1" dirty="0"/>
              <a:t>Company size</a:t>
            </a:r>
            <a:r>
              <a:rPr lang="en-US" dirty="0"/>
              <a:t> - Determine whether they're a 100-person company or 10,000-person company.</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4</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49C5C-E61D-E136-8484-A970924842B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F4C8D1-A242-83DE-2B90-BCBF68D1A237}"/>
              </a:ext>
            </a:extLst>
          </p:cNvPr>
          <p:cNvSpPr>
            <a:spLocks noGrp="1"/>
          </p:cNvSpPr>
          <p:nvPr>
            <p:ph type="title"/>
          </p:nvPr>
        </p:nvSpPr>
        <p:spPr>
          <a:xfrm>
            <a:off x="914400" y="731520"/>
            <a:ext cx="3931920" cy="2103120"/>
          </a:xfrm>
        </p:spPr>
        <p:txBody>
          <a:bodyPr anchor="b" anchorCtr="0"/>
          <a:lstStyle/>
          <a:p>
            <a:r>
              <a:rPr lang="en-US" altLang="zh-CN" dirty="0"/>
              <a:t>Industry</a:t>
            </a:r>
            <a:endParaRPr lang="en-US" dirty="0"/>
          </a:p>
        </p:txBody>
      </p:sp>
      <p:sp>
        <p:nvSpPr>
          <p:cNvPr id="20" name="Text Placeholder 19">
            <a:extLst>
              <a:ext uri="{FF2B5EF4-FFF2-40B4-BE49-F238E27FC236}">
                <a16:creationId xmlns:a16="http://schemas.microsoft.com/office/drawing/2014/main" id="{0025ECF6-349D-779F-0B24-37086B0BF8DE}"/>
              </a:ext>
            </a:extLst>
          </p:cNvPr>
          <p:cNvSpPr>
            <a:spLocks noGrp="1"/>
          </p:cNvSpPr>
          <p:nvPr>
            <p:ph idx="1"/>
          </p:nvPr>
        </p:nvSpPr>
        <p:spPr>
          <a:xfrm>
            <a:off x="914400" y="3108960"/>
            <a:ext cx="3931920" cy="2651760"/>
          </a:xfrm>
        </p:spPr>
        <p:txBody>
          <a:bodyPr>
            <a:normAutofit/>
          </a:bodyPr>
          <a:lstStyle/>
          <a:p>
            <a:r>
              <a:rPr lang="en-US" b="1" dirty="0"/>
              <a:t>Industry</a:t>
            </a:r>
            <a:r>
              <a:rPr lang="en-US" dirty="0"/>
              <a:t> - Find out if they're a financial, healthcare, education, or other type of industry. Each industry comes with its own challenges and regulations.</a:t>
            </a:r>
          </a:p>
        </p:txBody>
      </p:sp>
      <p:pic>
        <p:nvPicPr>
          <p:cNvPr id="12" name="Picture Placeholder 11" descr="Three people having a discussion at a table">
            <a:extLst>
              <a:ext uri="{FF2B5EF4-FFF2-40B4-BE49-F238E27FC236}">
                <a16:creationId xmlns:a16="http://schemas.microsoft.com/office/drawing/2014/main" id="{A571C1CE-9AE8-F5CF-D20C-675BC550B46D}"/>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C65C1621-6035-C898-510A-70B6A62726C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41903DF-5D2A-4000-099C-56525E8C72D0}"/>
              </a:ext>
            </a:extLst>
          </p:cNvPr>
          <p:cNvSpPr>
            <a:spLocks noGrp="1"/>
          </p:cNvSpPr>
          <p:nvPr>
            <p:ph type="sldNum" sz="quarter" idx="53"/>
          </p:nvPr>
        </p:nvSpPr>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2773330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BB6E0-9B86-6F8A-3ED0-ED963A52BA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78C59A3-34A5-0979-483F-6DB67BE7289D}"/>
              </a:ext>
            </a:extLst>
          </p:cNvPr>
          <p:cNvSpPr>
            <a:spLocks noGrp="1"/>
          </p:cNvSpPr>
          <p:nvPr>
            <p:ph type="title"/>
          </p:nvPr>
        </p:nvSpPr>
        <p:spPr>
          <a:xfrm>
            <a:off x="914400" y="731520"/>
            <a:ext cx="3931920" cy="2103120"/>
          </a:xfrm>
        </p:spPr>
        <p:txBody>
          <a:bodyPr anchor="b" anchorCtr="0"/>
          <a:lstStyle/>
          <a:p>
            <a:r>
              <a:rPr lang="en-US" altLang="zh-CN" dirty="0"/>
              <a:t>Locations</a:t>
            </a:r>
            <a:endParaRPr lang="en-US" dirty="0"/>
          </a:p>
        </p:txBody>
      </p:sp>
      <p:sp>
        <p:nvSpPr>
          <p:cNvPr id="20" name="Text Placeholder 19">
            <a:extLst>
              <a:ext uri="{FF2B5EF4-FFF2-40B4-BE49-F238E27FC236}">
                <a16:creationId xmlns:a16="http://schemas.microsoft.com/office/drawing/2014/main" id="{EE1673A8-A537-7EFA-BB01-53934DB74987}"/>
              </a:ext>
            </a:extLst>
          </p:cNvPr>
          <p:cNvSpPr>
            <a:spLocks noGrp="1"/>
          </p:cNvSpPr>
          <p:nvPr>
            <p:ph idx="1"/>
          </p:nvPr>
        </p:nvSpPr>
        <p:spPr>
          <a:xfrm>
            <a:off x="914400" y="3108960"/>
            <a:ext cx="3931920" cy="2651760"/>
          </a:xfrm>
        </p:spPr>
        <p:txBody>
          <a:bodyPr>
            <a:normAutofit/>
          </a:bodyPr>
          <a:lstStyle/>
          <a:p>
            <a:r>
              <a:rPr lang="en-US" b="1" dirty="0"/>
              <a:t>Locations</a:t>
            </a:r>
            <a:r>
              <a:rPr lang="en-US" dirty="0"/>
              <a:t> - Establish if they're in a single location or spread out across the globe. This information can give insight into considerations for potential language and currency issues. Projects in multiple locations can have different regulatory challenges to consider.</a:t>
            </a:r>
          </a:p>
        </p:txBody>
      </p:sp>
      <p:pic>
        <p:nvPicPr>
          <p:cNvPr id="12" name="Picture Placeholder 11" descr="Three people having a discussion at a table">
            <a:extLst>
              <a:ext uri="{FF2B5EF4-FFF2-40B4-BE49-F238E27FC236}">
                <a16:creationId xmlns:a16="http://schemas.microsoft.com/office/drawing/2014/main" id="{3C77D550-D9EF-9B42-B396-E7495E96F1EA}"/>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85419E8B-B2D6-D57E-8BAD-794747688E79}"/>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CEF56D64-356A-79E9-EB5F-1CDC27E8632F}"/>
              </a:ext>
            </a:extLst>
          </p:cNvPr>
          <p:cNvSpPr>
            <a:spLocks noGrp="1"/>
          </p:cNvSpPr>
          <p:nvPr>
            <p:ph type="sldNum" sz="quarter" idx="53"/>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3766315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B747D-51BC-7413-15B0-0900151DA6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394B763-63F8-209A-7F8A-2518F5036579}"/>
              </a:ext>
            </a:extLst>
          </p:cNvPr>
          <p:cNvSpPr>
            <a:spLocks noGrp="1"/>
          </p:cNvSpPr>
          <p:nvPr>
            <p:ph type="title"/>
          </p:nvPr>
        </p:nvSpPr>
        <p:spPr>
          <a:xfrm>
            <a:off x="914400" y="731520"/>
            <a:ext cx="3931920" cy="2103120"/>
          </a:xfrm>
        </p:spPr>
        <p:txBody>
          <a:bodyPr anchor="b" anchorCtr="0"/>
          <a:lstStyle/>
          <a:p>
            <a:r>
              <a:rPr lang="en-US" altLang="zh-CN" dirty="0"/>
              <a:t>Customer’s customer</a:t>
            </a:r>
            <a:endParaRPr lang="en-US" dirty="0"/>
          </a:p>
        </p:txBody>
      </p:sp>
      <p:sp>
        <p:nvSpPr>
          <p:cNvPr id="20" name="Text Placeholder 19">
            <a:extLst>
              <a:ext uri="{FF2B5EF4-FFF2-40B4-BE49-F238E27FC236}">
                <a16:creationId xmlns:a16="http://schemas.microsoft.com/office/drawing/2014/main" id="{07B9BE77-D897-6280-F485-3F787D3BADF2}"/>
              </a:ext>
            </a:extLst>
          </p:cNvPr>
          <p:cNvSpPr>
            <a:spLocks noGrp="1"/>
          </p:cNvSpPr>
          <p:nvPr>
            <p:ph idx="1"/>
          </p:nvPr>
        </p:nvSpPr>
        <p:spPr>
          <a:xfrm>
            <a:off x="914400" y="3108960"/>
            <a:ext cx="3931920" cy="2651760"/>
          </a:xfrm>
        </p:spPr>
        <p:txBody>
          <a:bodyPr>
            <a:normAutofit/>
          </a:bodyPr>
          <a:lstStyle/>
          <a:p>
            <a:r>
              <a:rPr lang="en-US" b="1" dirty="0"/>
              <a:t>Your customer's customers</a:t>
            </a:r>
            <a:r>
              <a:rPr lang="en-US" dirty="0"/>
              <a:t> - Learn about who and where their customers are. The company might be in a single location but could have customers across the globe.</a:t>
            </a:r>
          </a:p>
        </p:txBody>
      </p:sp>
      <p:pic>
        <p:nvPicPr>
          <p:cNvPr id="12" name="Picture Placeholder 11" descr="Three people having a discussion at a table">
            <a:extLst>
              <a:ext uri="{FF2B5EF4-FFF2-40B4-BE49-F238E27FC236}">
                <a16:creationId xmlns:a16="http://schemas.microsoft.com/office/drawing/2014/main" id="{B5C656D6-E1CD-5F63-B4DC-960C9AAED045}"/>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67C348FC-4BBE-0CA6-EA56-CB9E533CEA2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95CD50C-2C18-64DD-65D9-198D3B9BD5C6}"/>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545290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0DC3-8459-41B3-7EBE-95145A431F0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A0276E-19E7-AD0E-F024-FD666E4DFFA8}"/>
              </a:ext>
            </a:extLst>
          </p:cNvPr>
          <p:cNvSpPr>
            <a:spLocks noGrp="1"/>
          </p:cNvSpPr>
          <p:nvPr>
            <p:ph type="title"/>
          </p:nvPr>
        </p:nvSpPr>
        <p:spPr>
          <a:xfrm>
            <a:off x="914400" y="731520"/>
            <a:ext cx="3931920" cy="2103120"/>
          </a:xfrm>
        </p:spPr>
        <p:txBody>
          <a:bodyPr anchor="b" anchorCtr="0"/>
          <a:lstStyle/>
          <a:p>
            <a:r>
              <a:rPr lang="en-US" altLang="zh-CN" dirty="0"/>
              <a:t>Offerings</a:t>
            </a:r>
            <a:endParaRPr lang="en-US" dirty="0"/>
          </a:p>
        </p:txBody>
      </p:sp>
      <p:sp>
        <p:nvSpPr>
          <p:cNvPr id="20" name="Text Placeholder 19">
            <a:extLst>
              <a:ext uri="{FF2B5EF4-FFF2-40B4-BE49-F238E27FC236}">
                <a16:creationId xmlns:a16="http://schemas.microsoft.com/office/drawing/2014/main" id="{62A771F8-7129-ED6D-66CF-504206AD2B6B}"/>
              </a:ext>
            </a:extLst>
          </p:cNvPr>
          <p:cNvSpPr>
            <a:spLocks noGrp="1"/>
          </p:cNvSpPr>
          <p:nvPr>
            <p:ph idx="1"/>
          </p:nvPr>
        </p:nvSpPr>
        <p:spPr>
          <a:xfrm>
            <a:off x="914400" y="3108960"/>
            <a:ext cx="3931920" cy="2651760"/>
          </a:xfrm>
        </p:spPr>
        <p:txBody>
          <a:bodyPr>
            <a:normAutofit/>
          </a:bodyPr>
          <a:lstStyle/>
          <a:p>
            <a:r>
              <a:rPr lang="en-US" b="1" dirty="0"/>
              <a:t>Offerings</a:t>
            </a:r>
            <a:r>
              <a:rPr lang="en-US" dirty="0"/>
              <a:t> - Determine if they have multiple products/services. Often, this information will connect to your specific Dynamics 365 project. For example, you might be implementing Microsoft Dynamics 365 Field Service to handle service calls for a specific product line.</a:t>
            </a:r>
          </a:p>
        </p:txBody>
      </p:sp>
      <p:pic>
        <p:nvPicPr>
          <p:cNvPr id="12" name="Picture Placeholder 11" descr="Three people having a discussion at a table">
            <a:extLst>
              <a:ext uri="{FF2B5EF4-FFF2-40B4-BE49-F238E27FC236}">
                <a16:creationId xmlns:a16="http://schemas.microsoft.com/office/drawing/2014/main" id="{464A32E9-A826-4AF8-A350-5A25DB160C48}"/>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CB63917C-591C-C685-C9B9-EA9936667641}"/>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D066129-7D67-B51F-E0F2-64E8CE6406A7}"/>
              </a:ext>
            </a:extLst>
          </p:cNvPr>
          <p:cNvSpPr>
            <a:spLocks noGrp="1"/>
          </p:cNvSpPr>
          <p:nvPr>
            <p:ph type="sldNum" sz="quarter" idx="53"/>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3424691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BD368-F09D-C7BF-9105-1050B6549C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62B15F8-4997-AD65-E442-BF34375F1D24}"/>
              </a:ext>
            </a:extLst>
          </p:cNvPr>
          <p:cNvSpPr>
            <a:spLocks noGrp="1"/>
          </p:cNvSpPr>
          <p:nvPr>
            <p:ph type="title"/>
          </p:nvPr>
        </p:nvSpPr>
        <p:spPr>
          <a:xfrm>
            <a:off x="914400" y="731520"/>
            <a:ext cx="3931920" cy="2103120"/>
          </a:xfrm>
        </p:spPr>
        <p:txBody>
          <a:bodyPr anchor="b" anchorCtr="0"/>
          <a:lstStyle/>
          <a:p>
            <a:r>
              <a:rPr lang="en-US" altLang="zh-CN" dirty="0"/>
              <a:t>Sales cycle</a:t>
            </a:r>
            <a:endParaRPr lang="en-US" dirty="0"/>
          </a:p>
        </p:txBody>
      </p:sp>
      <p:sp>
        <p:nvSpPr>
          <p:cNvPr id="20" name="Text Placeholder 19">
            <a:extLst>
              <a:ext uri="{FF2B5EF4-FFF2-40B4-BE49-F238E27FC236}">
                <a16:creationId xmlns:a16="http://schemas.microsoft.com/office/drawing/2014/main" id="{3F55B1B7-B97E-529C-71E3-43663390CA0C}"/>
              </a:ext>
            </a:extLst>
          </p:cNvPr>
          <p:cNvSpPr>
            <a:spLocks noGrp="1"/>
          </p:cNvSpPr>
          <p:nvPr>
            <p:ph idx="1"/>
          </p:nvPr>
        </p:nvSpPr>
        <p:spPr>
          <a:xfrm>
            <a:off x="914400" y="3108960"/>
            <a:ext cx="3931920" cy="2651760"/>
          </a:xfrm>
        </p:spPr>
        <p:txBody>
          <a:bodyPr>
            <a:normAutofit/>
          </a:bodyPr>
          <a:lstStyle/>
          <a:p>
            <a:r>
              <a:rPr lang="en-US" b="1" dirty="0"/>
              <a:t>Sales cycle</a:t>
            </a:r>
            <a:r>
              <a:rPr lang="en-US" dirty="0"/>
              <a:t> - Find out if they're spending 12 months trying to sell an airplane or 12 days trying to sell a bicycle. Even if you're not implementing sales-oriented solutions, this information can provide valuable insight on the relationships that they have with their customers.</a:t>
            </a:r>
          </a:p>
        </p:txBody>
      </p:sp>
      <p:pic>
        <p:nvPicPr>
          <p:cNvPr id="12" name="Picture Placeholder 11" descr="Three people having a discussion at a table">
            <a:extLst>
              <a:ext uri="{FF2B5EF4-FFF2-40B4-BE49-F238E27FC236}">
                <a16:creationId xmlns:a16="http://schemas.microsoft.com/office/drawing/2014/main" id="{5A391770-C5CB-D8C9-5860-71DC7B844144}"/>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60FF262E-64B1-1FBF-DDDD-21DE540454F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D35F2DD-F464-BDE0-B8B6-0BE81209FC9E}"/>
              </a:ext>
            </a:extLst>
          </p:cNvPr>
          <p:cNvSpPr>
            <a:spLocks noGrp="1"/>
          </p:cNvSpPr>
          <p:nvPr>
            <p:ph type="sldNum" sz="quarter" idx="53"/>
          </p:nvPr>
        </p:nvSpPr>
        <p:spPr/>
        <p:txBody>
          <a:bodyPr/>
          <a:lstStyle/>
          <a:p>
            <a:fld id="{47FEACEE-25B4-4A2D-B147-27296E36371D}" type="slidenum">
              <a:rPr lang="en-US" altLang="zh-CN" noProof="0" smtClean="0"/>
              <a:pPr/>
              <a:t>9</a:t>
            </a:fld>
            <a:endParaRPr lang="en-US" altLang="zh-CN" noProof="0" dirty="0"/>
          </a:p>
        </p:txBody>
      </p:sp>
    </p:spTree>
    <p:extLst>
      <p:ext uri="{BB962C8B-B14F-4D97-AF65-F5344CB8AC3E}">
        <p14:creationId xmlns:p14="http://schemas.microsoft.com/office/powerpoint/2010/main" val="2578570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FFC0F-9C7F-0800-47C5-0D40CEB55BC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499AC2-3D02-6A4D-9C8D-355EA22CAB84}"/>
              </a:ext>
            </a:extLst>
          </p:cNvPr>
          <p:cNvSpPr>
            <a:spLocks noGrp="1"/>
          </p:cNvSpPr>
          <p:nvPr>
            <p:ph type="title"/>
          </p:nvPr>
        </p:nvSpPr>
        <p:spPr>
          <a:xfrm>
            <a:off x="914400" y="731520"/>
            <a:ext cx="3931920" cy="2103120"/>
          </a:xfrm>
        </p:spPr>
        <p:txBody>
          <a:bodyPr anchor="b" anchorCtr="0"/>
          <a:lstStyle/>
          <a:p>
            <a:r>
              <a:rPr lang="en-US" altLang="zh-CN" dirty="0"/>
              <a:t>Vision and mission</a:t>
            </a:r>
            <a:endParaRPr lang="en-US" dirty="0"/>
          </a:p>
        </p:txBody>
      </p:sp>
      <p:sp>
        <p:nvSpPr>
          <p:cNvPr id="20" name="Text Placeholder 19">
            <a:extLst>
              <a:ext uri="{FF2B5EF4-FFF2-40B4-BE49-F238E27FC236}">
                <a16:creationId xmlns:a16="http://schemas.microsoft.com/office/drawing/2014/main" id="{2BFA86AB-AE82-9281-E7AA-EB8521FDD00C}"/>
              </a:ext>
            </a:extLst>
          </p:cNvPr>
          <p:cNvSpPr>
            <a:spLocks noGrp="1"/>
          </p:cNvSpPr>
          <p:nvPr>
            <p:ph idx="1"/>
          </p:nvPr>
        </p:nvSpPr>
        <p:spPr>
          <a:xfrm>
            <a:off x="914400" y="3108960"/>
            <a:ext cx="3931920" cy="2651760"/>
          </a:xfrm>
        </p:spPr>
        <p:txBody>
          <a:bodyPr>
            <a:normAutofit/>
          </a:bodyPr>
          <a:lstStyle/>
          <a:p>
            <a:r>
              <a:rPr lang="en-US" b="1" dirty="0"/>
              <a:t>Vision and mission</a:t>
            </a:r>
            <a:r>
              <a:rPr lang="en-US" dirty="0"/>
              <a:t> - Use this information to gain a better idea of what's important for the customer and what they're trying to accomplish. As you meet with your customer, you might learn that they have a more targeted vision and mission for the specific project or department that you're working with.</a:t>
            </a:r>
          </a:p>
        </p:txBody>
      </p:sp>
      <p:pic>
        <p:nvPicPr>
          <p:cNvPr id="12" name="Picture Placeholder 11" descr="Three people having a discussion at a table">
            <a:extLst>
              <a:ext uri="{FF2B5EF4-FFF2-40B4-BE49-F238E27FC236}">
                <a16:creationId xmlns:a16="http://schemas.microsoft.com/office/drawing/2014/main" id="{C4AB8466-E524-6E47-0658-F5388CE74197}"/>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AA26BDBC-0BC0-89FC-5541-2A75953AE9D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44AAD15-ED71-958F-086D-C6D039055662}"/>
              </a:ext>
            </a:extLst>
          </p:cNvPr>
          <p:cNvSpPr>
            <a:spLocks noGrp="1"/>
          </p:cNvSpPr>
          <p:nvPr>
            <p:ph type="sldNum" sz="quarter" idx="53"/>
          </p:nvPr>
        </p:nvSpPr>
        <p:spPr/>
        <p:txBody>
          <a:bodyPr/>
          <a:lstStyle/>
          <a:p>
            <a:fld id="{47FEACEE-25B4-4A2D-B147-27296E36371D}" type="slidenum">
              <a:rPr lang="en-US" altLang="zh-CN" noProof="0" smtClean="0"/>
              <a:pPr/>
              <a:t>10</a:t>
            </a:fld>
            <a:endParaRPr lang="en-US" altLang="zh-CN" noProof="0" dirty="0"/>
          </a:p>
        </p:txBody>
      </p:sp>
    </p:spTree>
    <p:extLst>
      <p:ext uri="{BB962C8B-B14F-4D97-AF65-F5344CB8AC3E}">
        <p14:creationId xmlns:p14="http://schemas.microsoft.com/office/powerpoint/2010/main" val="519507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Ask good questions</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Potential troubles:</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399" y="3108959"/>
            <a:ext cx="3539613" cy="3242679"/>
          </a:xfrm>
        </p:spPr>
        <p:txBody>
          <a:bodyPr>
            <a:normAutofit/>
          </a:bodyPr>
          <a:lstStyle/>
          <a:p>
            <a:r>
              <a:rPr lang="en-US" dirty="0"/>
              <a:t>A customer doesn't have time to give you detailed answers.</a:t>
            </a:r>
          </a:p>
          <a:p>
            <a:r>
              <a:rPr lang="en-US" dirty="0"/>
              <a:t>You only get simple answers.</a:t>
            </a:r>
          </a:p>
          <a:p>
            <a:r>
              <a:rPr lang="en-US" dirty="0"/>
              <a:t>You have limited or no access to the actual customer.</a:t>
            </a:r>
          </a:p>
          <a:p>
            <a:r>
              <a:rPr lang="en-US" dirty="0"/>
              <a:t>The requirements or specification that you've received are clearly incomplete when they should have been complete.</a:t>
            </a:r>
          </a:p>
        </p:txBody>
      </p:sp>
      <p:sp>
        <p:nvSpPr>
          <p:cNvPr id="44" name="Text Placeholder 43">
            <a:extLst>
              <a:ext uri="{FF2B5EF4-FFF2-40B4-BE49-F238E27FC236}">
                <a16:creationId xmlns:a16="http://schemas.microsoft.com/office/drawing/2014/main" id="{78466807-A2DA-EC5D-ACDE-B83D6F7169EA}"/>
              </a:ext>
            </a:extLst>
          </p:cNvPr>
          <p:cNvSpPr>
            <a:spLocks noGrp="1"/>
          </p:cNvSpPr>
          <p:nvPr>
            <p:ph idx="56"/>
          </p:nvPr>
        </p:nvSpPr>
        <p:spPr>
          <a:xfrm>
            <a:off x="4754880" y="3108960"/>
            <a:ext cx="3291840" cy="2651760"/>
          </a:xfrm>
        </p:spPr>
        <p:txBody>
          <a:bodyPr/>
          <a:lstStyle/>
          <a:p>
            <a:r>
              <a:rPr lang="en-US" dirty="0"/>
              <a:t>You're receiving conflicting information.</a:t>
            </a:r>
          </a:p>
          <a:p>
            <a:r>
              <a:rPr lang="en-US" dirty="0"/>
              <a:t>You're only being told about the happy path.</a:t>
            </a:r>
          </a:p>
          <a:p>
            <a:r>
              <a:rPr lang="en-US" dirty="0"/>
              <a:t>Everyone is new and doesn't know how processes work.</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12</a:t>
            </a:fld>
            <a:endParaRPr lang="en-US" altLang="zh-CN" noProof="0" dirty="0"/>
          </a:p>
        </p:txBody>
      </p:sp>
    </p:spTree>
    <p:extLst>
      <p:ext uri="{BB962C8B-B14F-4D97-AF65-F5344CB8AC3E}">
        <p14:creationId xmlns:p14="http://schemas.microsoft.com/office/powerpoint/2010/main" val="4182148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A291C-6D04-2C8C-00C9-8109BE219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43DAB-35F7-C1CA-B0F0-DDFD7E85451A}"/>
              </a:ext>
            </a:extLst>
          </p:cNvPr>
          <p:cNvSpPr>
            <a:spLocks noGrp="1"/>
          </p:cNvSpPr>
          <p:nvPr>
            <p:ph type="title"/>
          </p:nvPr>
        </p:nvSpPr>
        <p:spPr>
          <a:xfrm>
            <a:off x="1143000" y="3200400"/>
            <a:ext cx="5029200" cy="2743200"/>
          </a:xfrm>
        </p:spPr>
        <p:txBody>
          <a:bodyPr lIns="0" anchor="t" anchorCtr="0"/>
          <a:lstStyle/>
          <a:p>
            <a:r>
              <a:rPr lang="en-US" dirty="0"/>
              <a:t>Ask good questions</a:t>
            </a:r>
          </a:p>
        </p:txBody>
      </p:sp>
      <p:sp>
        <p:nvSpPr>
          <p:cNvPr id="3" name="Text Placeholder 2">
            <a:extLst>
              <a:ext uri="{FF2B5EF4-FFF2-40B4-BE49-F238E27FC236}">
                <a16:creationId xmlns:a16="http://schemas.microsoft.com/office/drawing/2014/main" id="{CC0D5FA3-6D1D-76E8-C536-FCD41A54296E}"/>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2D61DE92-7609-39D8-D7D4-EDE416038651}"/>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417335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74AEA-B925-6BF0-D930-ED49AF57EE4E}"/>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70432641-91DA-4F56-1F0E-C360D6A42E59}"/>
              </a:ext>
            </a:extLst>
          </p:cNvPr>
          <p:cNvSpPr>
            <a:spLocks noGrp="1"/>
          </p:cNvSpPr>
          <p:nvPr>
            <p:ph type="title"/>
          </p:nvPr>
        </p:nvSpPr>
        <p:spPr>
          <a:xfrm>
            <a:off x="914400" y="1060704"/>
            <a:ext cx="7132320" cy="1773936"/>
          </a:xfrm>
        </p:spPr>
        <p:txBody>
          <a:bodyPr/>
          <a:lstStyle/>
          <a:p>
            <a:r>
              <a:rPr lang="en-US" dirty="0"/>
              <a:t>Possible solutions</a:t>
            </a:r>
          </a:p>
        </p:txBody>
      </p:sp>
      <p:sp>
        <p:nvSpPr>
          <p:cNvPr id="43" name="Text Placeholder 42">
            <a:extLst>
              <a:ext uri="{FF2B5EF4-FFF2-40B4-BE49-F238E27FC236}">
                <a16:creationId xmlns:a16="http://schemas.microsoft.com/office/drawing/2014/main" id="{0A53D3C9-6118-D8C5-2208-8BE5AA6C9293}"/>
              </a:ext>
            </a:extLst>
          </p:cNvPr>
          <p:cNvSpPr>
            <a:spLocks noGrp="1"/>
          </p:cNvSpPr>
          <p:nvPr>
            <p:ph idx="1"/>
          </p:nvPr>
        </p:nvSpPr>
        <p:spPr>
          <a:xfrm>
            <a:off x="914399" y="3108959"/>
            <a:ext cx="3539613" cy="3242679"/>
          </a:xfrm>
        </p:spPr>
        <p:txBody>
          <a:bodyPr>
            <a:normAutofit/>
          </a:bodyPr>
          <a:lstStyle/>
          <a:p>
            <a:r>
              <a:rPr lang="en-US" b="1" dirty="0"/>
              <a:t>Ask open-ended questions</a:t>
            </a:r>
          </a:p>
          <a:p>
            <a:r>
              <a:rPr lang="en-US" b="1" dirty="0"/>
              <a:t>Choose how to ask a question</a:t>
            </a:r>
          </a:p>
          <a:p>
            <a:r>
              <a:rPr lang="en-US" b="1" dirty="0"/>
              <a:t>Use existing requirements</a:t>
            </a:r>
          </a:p>
          <a:p>
            <a:r>
              <a:rPr lang="en-US" b="1" dirty="0"/>
              <a:t>Conflicting information</a:t>
            </a:r>
          </a:p>
          <a:p>
            <a:r>
              <a:rPr lang="en-US" b="1" dirty="0"/>
              <a:t>Nothing ever goes wrong</a:t>
            </a:r>
          </a:p>
          <a:p>
            <a:endParaRPr lang="en-US" dirty="0"/>
          </a:p>
        </p:txBody>
      </p:sp>
      <p:sp>
        <p:nvSpPr>
          <p:cNvPr id="44" name="Text Placeholder 43">
            <a:extLst>
              <a:ext uri="{FF2B5EF4-FFF2-40B4-BE49-F238E27FC236}">
                <a16:creationId xmlns:a16="http://schemas.microsoft.com/office/drawing/2014/main" id="{8CA26DC4-FFB5-0905-7FFF-467172A394C2}"/>
              </a:ext>
            </a:extLst>
          </p:cNvPr>
          <p:cNvSpPr>
            <a:spLocks noGrp="1"/>
          </p:cNvSpPr>
          <p:nvPr>
            <p:ph idx="56"/>
          </p:nvPr>
        </p:nvSpPr>
        <p:spPr>
          <a:xfrm>
            <a:off x="4754880" y="3108960"/>
            <a:ext cx="3291840" cy="2651760"/>
          </a:xfrm>
        </p:spPr>
        <p:txBody>
          <a:bodyPr/>
          <a:lstStyle/>
          <a:p>
            <a:r>
              <a:rPr lang="en-US" b="1" dirty="0"/>
              <a:t>Everyone is new</a:t>
            </a:r>
          </a:p>
          <a:p>
            <a:r>
              <a:rPr lang="en-US" b="1" dirty="0"/>
              <a:t>Drill down to the details</a:t>
            </a:r>
          </a:p>
          <a:p>
            <a:r>
              <a:rPr lang="en-US" b="1" dirty="0"/>
              <a:t>Expand scope or expectations</a:t>
            </a:r>
          </a:p>
          <a:p>
            <a:endParaRPr lang="en-US" b="1" dirty="0"/>
          </a:p>
        </p:txBody>
      </p:sp>
      <p:sp>
        <p:nvSpPr>
          <p:cNvPr id="11" name="Slide Number Placeholder 13">
            <a:extLst>
              <a:ext uri="{FF2B5EF4-FFF2-40B4-BE49-F238E27FC236}">
                <a16:creationId xmlns:a16="http://schemas.microsoft.com/office/drawing/2014/main" id="{D39661D3-19B4-BFA7-4D29-CE9F31C3D9D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48FEBEA-9A57-41E3-FD8A-FEB8A9228FA9}"/>
              </a:ext>
            </a:extLst>
          </p:cNvPr>
          <p:cNvSpPr>
            <a:spLocks noGrp="1"/>
          </p:cNvSpPr>
          <p:nvPr>
            <p:ph type="sldNum" sz="quarter" idx="55"/>
          </p:nvPr>
        </p:nvSpPr>
        <p:spPr/>
        <p:txBody>
          <a:bodyPr/>
          <a:lstStyle/>
          <a:p>
            <a:fld id="{47FEACEE-25B4-4A2D-B147-27296E36371D}" type="slidenum">
              <a:rPr lang="en-US" altLang="zh-CN" noProof="0" smtClean="0"/>
              <a:pPr/>
              <a:t>14</a:t>
            </a:fld>
            <a:endParaRPr lang="en-US" altLang="zh-CN" noProof="0" dirty="0"/>
          </a:p>
        </p:txBody>
      </p:sp>
    </p:spTree>
    <p:extLst>
      <p:ext uri="{BB962C8B-B14F-4D97-AF65-F5344CB8AC3E}">
        <p14:creationId xmlns:p14="http://schemas.microsoft.com/office/powerpoint/2010/main" val="141166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A12E1-975D-5F5F-4147-A610DF10AB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0301B5-64A5-30B9-93D5-919929DF0761}"/>
              </a:ext>
            </a:extLst>
          </p:cNvPr>
          <p:cNvSpPr>
            <a:spLocks noGrp="1"/>
          </p:cNvSpPr>
          <p:nvPr>
            <p:ph type="title"/>
          </p:nvPr>
        </p:nvSpPr>
        <p:spPr>
          <a:xfrm>
            <a:off x="914400" y="731520"/>
            <a:ext cx="3931920" cy="2103120"/>
          </a:xfrm>
        </p:spPr>
        <p:txBody>
          <a:bodyPr anchor="b" anchorCtr="0"/>
          <a:lstStyle/>
          <a:p>
            <a:r>
              <a:rPr lang="en-US" dirty="0"/>
              <a:t>Ask open-ended questions</a:t>
            </a:r>
          </a:p>
        </p:txBody>
      </p:sp>
      <p:sp>
        <p:nvSpPr>
          <p:cNvPr id="20" name="Text Placeholder 19">
            <a:extLst>
              <a:ext uri="{FF2B5EF4-FFF2-40B4-BE49-F238E27FC236}">
                <a16:creationId xmlns:a16="http://schemas.microsoft.com/office/drawing/2014/main" id="{9CEE2D61-4667-E899-C6E9-BF7FEA01CBEF}"/>
              </a:ext>
            </a:extLst>
          </p:cNvPr>
          <p:cNvSpPr>
            <a:spLocks noGrp="1"/>
          </p:cNvSpPr>
          <p:nvPr>
            <p:ph idx="1"/>
          </p:nvPr>
        </p:nvSpPr>
        <p:spPr>
          <a:xfrm>
            <a:off x="914400" y="3108960"/>
            <a:ext cx="3931920" cy="2651760"/>
          </a:xfrm>
        </p:spPr>
        <p:txBody>
          <a:bodyPr>
            <a:normAutofit fontScale="85000" lnSpcReduction="20000"/>
          </a:bodyPr>
          <a:lstStyle/>
          <a:p>
            <a:r>
              <a:rPr lang="en-US" dirty="0"/>
              <a:t>If you find that you're getting short answers to your questions, then you're likely not asking open-ended questions. People who are in a hurry or aren't interested in conversing will commonly keep their answers short</a:t>
            </a:r>
          </a:p>
          <a:p>
            <a:r>
              <a:rPr lang="en-US" dirty="0"/>
              <a:t> For example, perhaps you asked, "Are support requests escalated when they're past due?" An easy answer to that question is "Yes." A better option would be to ask, "Could you help me understand scenarios where support requests are escalated?"</a:t>
            </a:r>
          </a:p>
        </p:txBody>
      </p:sp>
      <p:sp>
        <p:nvSpPr>
          <p:cNvPr id="9" name="Slide Number Placeholder 13">
            <a:extLst>
              <a:ext uri="{FF2B5EF4-FFF2-40B4-BE49-F238E27FC236}">
                <a16:creationId xmlns:a16="http://schemas.microsoft.com/office/drawing/2014/main" id="{463084C0-4456-7186-56CE-4AD9369044A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154E50B-FFFC-CAA0-38C3-331819E0D156}"/>
              </a:ext>
            </a:extLst>
          </p:cNvPr>
          <p:cNvSpPr>
            <a:spLocks noGrp="1"/>
          </p:cNvSpPr>
          <p:nvPr>
            <p:ph type="sldNum" sz="quarter" idx="53"/>
          </p:nvPr>
        </p:nvSpPr>
        <p:spPr/>
        <p:txBody>
          <a:bodyPr/>
          <a:lstStyle/>
          <a:p>
            <a:fld id="{47FEACEE-25B4-4A2D-B147-27296E36371D}" type="slidenum">
              <a:rPr lang="en-US" altLang="zh-CN" noProof="0" smtClean="0"/>
              <a:pPr/>
              <a:t>15</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EA6BA666-B3E7-BF58-9644-C3030F65960B}"/>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3BD2E055-0B70-A226-652F-C315CC715ACF}"/>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3032244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8D8D-5D70-CFD5-63A8-C3C5971C6D0B}"/>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30EBEEC1-CB3E-4713-C6BB-FF52B2F042AC}"/>
              </a:ext>
            </a:extLst>
          </p:cNvPr>
          <p:cNvSpPr>
            <a:spLocks noGrp="1"/>
          </p:cNvSpPr>
          <p:nvPr>
            <p:ph type="title"/>
          </p:nvPr>
        </p:nvSpPr>
        <p:spPr>
          <a:xfrm>
            <a:off x="914400" y="1060704"/>
            <a:ext cx="7132320" cy="1773936"/>
          </a:xfrm>
        </p:spPr>
        <p:txBody>
          <a:bodyPr/>
          <a:lstStyle/>
          <a:p>
            <a:r>
              <a:rPr lang="en-US" dirty="0"/>
              <a:t>Choose how to ask a question</a:t>
            </a:r>
          </a:p>
        </p:txBody>
      </p:sp>
      <p:sp>
        <p:nvSpPr>
          <p:cNvPr id="43" name="Text Placeholder 42">
            <a:extLst>
              <a:ext uri="{FF2B5EF4-FFF2-40B4-BE49-F238E27FC236}">
                <a16:creationId xmlns:a16="http://schemas.microsoft.com/office/drawing/2014/main" id="{47E2EA7B-72D4-4729-30FC-AED3E1B8680F}"/>
              </a:ext>
            </a:extLst>
          </p:cNvPr>
          <p:cNvSpPr>
            <a:spLocks noGrp="1"/>
          </p:cNvSpPr>
          <p:nvPr>
            <p:ph idx="1"/>
          </p:nvPr>
        </p:nvSpPr>
        <p:spPr>
          <a:xfrm>
            <a:off x="914399" y="3108959"/>
            <a:ext cx="3539613" cy="3242679"/>
          </a:xfrm>
        </p:spPr>
        <p:txBody>
          <a:bodyPr>
            <a:normAutofit fontScale="85000" lnSpcReduction="10000"/>
          </a:bodyPr>
          <a:lstStyle/>
          <a:p>
            <a:r>
              <a:rPr lang="en-US" b="1" dirty="0"/>
              <a:t>Verbal interaction</a:t>
            </a:r>
            <a:r>
              <a:rPr lang="en-US" dirty="0"/>
              <a:t> - This approach is beneficial because it allows for interactive questions and answers. When you engage in this type of interaction through an online meeting, you can use the recording option, which allows you to focus on listening rather than on the task of taking notes. Additionally, this approach enables review as needed.</a:t>
            </a:r>
          </a:p>
          <a:p>
            <a:r>
              <a:rPr lang="en-US" b="1" dirty="0"/>
              <a:t>Demonstration</a:t>
            </a:r>
            <a:r>
              <a:rPr lang="en-US" dirty="0"/>
              <a:t> - Ask the user to show how they complete a process in the current system. This approach can be invaluable because, as the user demonstrates the process, you might notice something that they've forgotten to tell you.</a:t>
            </a:r>
          </a:p>
        </p:txBody>
      </p:sp>
      <p:sp>
        <p:nvSpPr>
          <p:cNvPr id="44" name="Text Placeholder 43">
            <a:extLst>
              <a:ext uri="{FF2B5EF4-FFF2-40B4-BE49-F238E27FC236}">
                <a16:creationId xmlns:a16="http://schemas.microsoft.com/office/drawing/2014/main" id="{2ED6BD27-E89C-DDD2-7FA2-CE7C723B81D1}"/>
              </a:ext>
            </a:extLst>
          </p:cNvPr>
          <p:cNvSpPr>
            <a:spLocks noGrp="1"/>
          </p:cNvSpPr>
          <p:nvPr>
            <p:ph idx="56"/>
          </p:nvPr>
        </p:nvSpPr>
        <p:spPr>
          <a:xfrm>
            <a:off x="4754880" y="3108960"/>
            <a:ext cx="3291840" cy="2651760"/>
          </a:xfrm>
        </p:spPr>
        <p:txBody>
          <a:bodyPr>
            <a:normAutofit fontScale="85000" lnSpcReduction="20000"/>
          </a:bodyPr>
          <a:lstStyle/>
          <a:p>
            <a:r>
              <a:rPr lang="en-US" b="1" dirty="0"/>
              <a:t>Email</a:t>
            </a:r>
            <a:r>
              <a:rPr lang="en-US" dirty="0"/>
              <a:t> - Using an email approach allows the customer to respond at their own convenience. However, this approach can also cause procrastination and require follow-up to encourage a response. Emails can also offer a good trail of how decisions were made if questions are asked later.</a:t>
            </a:r>
          </a:p>
          <a:p>
            <a:r>
              <a:rPr lang="en-US" b="1" dirty="0"/>
              <a:t>Ask for an example</a:t>
            </a:r>
            <a:r>
              <a:rPr lang="en-US" dirty="0"/>
              <a:t> - This approach works well for getting insight into current reports or other outputs that you have questions about.</a:t>
            </a:r>
          </a:p>
        </p:txBody>
      </p:sp>
      <p:sp>
        <p:nvSpPr>
          <p:cNvPr id="11" name="Slide Number Placeholder 13">
            <a:extLst>
              <a:ext uri="{FF2B5EF4-FFF2-40B4-BE49-F238E27FC236}">
                <a16:creationId xmlns:a16="http://schemas.microsoft.com/office/drawing/2014/main" id="{DC643DCA-915F-151D-897F-EF5074EACA7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4422318-54A0-DED0-A1B5-03B5FE6015A0}"/>
              </a:ext>
            </a:extLst>
          </p:cNvPr>
          <p:cNvSpPr>
            <a:spLocks noGrp="1"/>
          </p:cNvSpPr>
          <p:nvPr>
            <p:ph type="sldNum" sz="quarter" idx="55"/>
          </p:nvPr>
        </p:nvSpPr>
        <p:spPr/>
        <p:txBody>
          <a:bodyPr/>
          <a:lstStyle/>
          <a:p>
            <a:fld id="{47FEACEE-25B4-4A2D-B147-27296E36371D}" type="slidenum">
              <a:rPr lang="en-US" altLang="zh-CN" noProof="0" smtClean="0"/>
              <a:pPr/>
              <a:t>16</a:t>
            </a:fld>
            <a:endParaRPr lang="en-US" altLang="zh-CN" noProof="0" dirty="0"/>
          </a:p>
        </p:txBody>
      </p:sp>
    </p:spTree>
    <p:extLst>
      <p:ext uri="{BB962C8B-B14F-4D97-AF65-F5344CB8AC3E}">
        <p14:creationId xmlns:p14="http://schemas.microsoft.com/office/powerpoint/2010/main" val="343646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BEBE0-5092-4E90-B398-979FD25303B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39C90B0-C97C-29F1-7174-BD7889999885}"/>
              </a:ext>
            </a:extLst>
          </p:cNvPr>
          <p:cNvSpPr>
            <a:spLocks noGrp="1"/>
          </p:cNvSpPr>
          <p:nvPr>
            <p:ph type="title"/>
          </p:nvPr>
        </p:nvSpPr>
        <p:spPr>
          <a:xfrm>
            <a:off x="914400" y="731520"/>
            <a:ext cx="3931920" cy="2103120"/>
          </a:xfrm>
        </p:spPr>
        <p:txBody>
          <a:bodyPr anchor="b" anchorCtr="0"/>
          <a:lstStyle/>
          <a:p>
            <a:r>
              <a:rPr lang="en-US" dirty="0"/>
              <a:t>Use existing requirements</a:t>
            </a:r>
          </a:p>
        </p:txBody>
      </p:sp>
      <p:sp>
        <p:nvSpPr>
          <p:cNvPr id="20" name="Text Placeholder 19">
            <a:extLst>
              <a:ext uri="{FF2B5EF4-FFF2-40B4-BE49-F238E27FC236}">
                <a16:creationId xmlns:a16="http://schemas.microsoft.com/office/drawing/2014/main" id="{A21227BB-5FFB-2750-495D-9E28E824A9F4}"/>
              </a:ext>
            </a:extLst>
          </p:cNvPr>
          <p:cNvSpPr>
            <a:spLocks noGrp="1"/>
          </p:cNvSpPr>
          <p:nvPr>
            <p:ph idx="1"/>
          </p:nvPr>
        </p:nvSpPr>
        <p:spPr>
          <a:xfrm>
            <a:off x="914400" y="3108960"/>
            <a:ext cx="3931920" cy="2651760"/>
          </a:xfrm>
        </p:spPr>
        <p:txBody>
          <a:bodyPr>
            <a:normAutofit/>
          </a:bodyPr>
          <a:lstStyle/>
          <a:p>
            <a:r>
              <a:rPr lang="en-US" dirty="0"/>
              <a:t>Generally, companies don't want to replicate a legacy system into a modern Dynamics 365 app deployment. By asking probing questions beyond the scope of their existing system, you can learn the details that are necessary for setting up Dynamics 365 rather than replicating their old system.</a:t>
            </a:r>
          </a:p>
        </p:txBody>
      </p:sp>
      <p:sp>
        <p:nvSpPr>
          <p:cNvPr id="9" name="Slide Number Placeholder 13">
            <a:extLst>
              <a:ext uri="{FF2B5EF4-FFF2-40B4-BE49-F238E27FC236}">
                <a16:creationId xmlns:a16="http://schemas.microsoft.com/office/drawing/2014/main" id="{2F56F1EA-1EA2-01AE-2D63-668305AB02EC}"/>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C0B857D-5244-2C0D-EEB4-35B58E4E8B54}"/>
              </a:ext>
            </a:extLst>
          </p:cNvPr>
          <p:cNvSpPr>
            <a:spLocks noGrp="1"/>
          </p:cNvSpPr>
          <p:nvPr>
            <p:ph type="sldNum" sz="quarter" idx="53"/>
          </p:nvPr>
        </p:nvSpPr>
        <p:spPr/>
        <p:txBody>
          <a:bodyPr/>
          <a:lstStyle/>
          <a:p>
            <a:fld id="{47FEACEE-25B4-4A2D-B147-27296E36371D}" type="slidenum">
              <a:rPr lang="en-US" altLang="zh-CN" noProof="0" smtClean="0"/>
              <a:pPr/>
              <a:t>17</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7886D655-EEB4-64F1-E521-19E8B30390CC}"/>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6FD62D81-4A3B-B5BE-B122-008519F364F8}"/>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3270495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5121-ABF2-2276-1941-71E209AB1DC0}"/>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9D01A9DD-1A9A-2955-9FE8-329A6542395A}"/>
              </a:ext>
            </a:extLst>
          </p:cNvPr>
          <p:cNvSpPr>
            <a:spLocks noGrp="1"/>
          </p:cNvSpPr>
          <p:nvPr>
            <p:ph type="title"/>
          </p:nvPr>
        </p:nvSpPr>
        <p:spPr>
          <a:xfrm>
            <a:off x="914400" y="1060704"/>
            <a:ext cx="7132320" cy="1773936"/>
          </a:xfrm>
        </p:spPr>
        <p:txBody>
          <a:bodyPr>
            <a:normAutofit/>
          </a:bodyPr>
          <a:lstStyle/>
          <a:p>
            <a:r>
              <a:rPr lang="en-US" dirty="0"/>
              <a:t>Conflicting information</a:t>
            </a:r>
            <a:br>
              <a:rPr lang="en-US" dirty="0"/>
            </a:br>
            <a:br>
              <a:rPr lang="en-US" dirty="0"/>
            </a:br>
            <a:r>
              <a:rPr lang="en-US" sz="2200" dirty="0"/>
              <a:t>The following reasons are some of the most common:</a:t>
            </a:r>
            <a:endParaRPr lang="en-US" dirty="0"/>
          </a:p>
        </p:txBody>
      </p:sp>
      <p:sp>
        <p:nvSpPr>
          <p:cNvPr id="43" name="Text Placeholder 42">
            <a:extLst>
              <a:ext uri="{FF2B5EF4-FFF2-40B4-BE49-F238E27FC236}">
                <a16:creationId xmlns:a16="http://schemas.microsoft.com/office/drawing/2014/main" id="{FB5DAAA7-8CC1-5983-6965-0F74A2B8112C}"/>
              </a:ext>
            </a:extLst>
          </p:cNvPr>
          <p:cNvSpPr>
            <a:spLocks noGrp="1"/>
          </p:cNvSpPr>
          <p:nvPr>
            <p:ph idx="1"/>
          </p:nvPr>
        </p:nvSpPr>
        <p:spPr>
          <a:xfrm>
            <a:off x="914399" y="3108959"/>
            <a:ext cx="3539613" cy="3242679"/>
          </a:xfrm>
        </p:spPr>
        <p:txBody>
          <a:bodyPr>
            <a:normAutofit/>
          </a:bodyPr>
          <a:lstStyle/>
          <a:p>
            <a:pPr marL="342900" indent="-342900">
              <a:buFont typeface="Arial" panose="020B0604020202020204" pitchFamily="34" charset="0"/>
              <a:buChar char="•"/>
            </a:pPr>
            <a:r>
              <a:rPr lang="en-US" dirty="0"/>
              <a:t>Different users have developed their own way of using the old system, and in many cases, complete the same process by using different methods.</a:t>
            </a:r>
          </a:p>
          <a:p>
            <a:pPr marL="342900" indent="-342900">
              <a:buFont typeface="Arial" panose="020B0604020202020204" pitchFamily="34" charset="0"/>
              <a:buChar char="•"/>
            </a:pPr>
            <a:r>
              <a:rPr lang="en-US" dirty="0"/>
              <a:t>Managers might not fully understand how their staff uses the system because they don't perform the work daily.</a:t>
            </a:r>
          </a:p>
        </p:txBody>
      </p:sp>
      <p:sp>
        <p:nvSpPr>
          <p:cNvPr id="44" name="Text Placeholder 43">
            <a:extLst>
              <a:ext uri="{FF2B5EF4-FFF2-40B4-BE49-F238E27FC236}">
                <a16:creationId xmlns:a16="http://schemas.microsoft.com/office/drawing/2014/main" id="{EEE8D03C-DDC8-5B39-2BB6-F07759F98E13}"/>
              </a:ext>
            </a:extLst>
          </p:cNvPr>
          <p:cNvSpPr>
            <a:spLocks noGrp="1"/>
          </p:cNvSpPr>
          <p:nvPr>
            <p:ph idx="56"/>
          </p:nvPr>
        </p:nvSpPr>
        <p:spPr>
          <a:xfrm>
            <a:off x="4754880" y="3108960"/>
            <a:ext cx="3291840" cy="2651760"/>
          </a:xfrm>
        </p:spPr>
        <p:txBody>
          <a:bodyPr>
            <a:normAutofit/>
          </a:bodyPr>
          <a:lstStyle/>
          <a:p>
            <a:pPr marL="285750" indent="-285750">
              <a:buFont typeface="Arial" panose="020B0604020202020204" pitchFamily="34" charset="0"/>
              <a:buChar char="•"/>
            </a:pPr>
            <a:r>
              <a:rPr lang="en-US" dirty="0"/>
              <a:t>Users might have explained the process that they use in different levels of detail, leaving out key steps.</a:t>
            </a:r>
          </a:p>
          <a:p>
            <a:pPr marL="285750" indent="-285750">
              <a:buFont typeface="Arial" panose="020B0604020202020204" pitchFamily="34" charset="0"/>
              <a:buChar char="•"/>
            </a:pPr>
            <a:r>
              <a:rPr lang="en-US" dirty="0"/>
              <a:t>You might not have understood the explanation.</a:t>
            </a:r>
          </a:p>
        </p:txBody>
      </p:sp>
      <p:sp>
        <p:nvSpPr>
          <p:cNvPr id="11" name="Slide Number Placeholder 13">
            <a:extLst>
              <a:ext uri="{FF2B5EF4-FFF2-40B4-BE49-F238E27FC236}">
                <a16:creationId xmlns:a16="http://schemas.microsoft.com/office/drawing/2014/main" id="{FC6BF650-6312-9D93-3CBD-46707B7B35BC}"/>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E34A982-0B29-54F6-19BF-00316C5E73B4}"/>
              </a:ext>
            </a:extLst>
          </p:cNvPr>
          <p:cNvSpPr>
            <a:spLocks noGrp="1"/>
          </p:cNvSpPr>
          <p:nvPr>
            <p:ph type="sldNum" sz="quarter" idx="55"/>
          </p:nvPr>
        </p:nvSpPr>
        <p:spPr/>
        <p:txBody>
          <a:bodyPr/>
          <a:lstStyle/>
          <a:p>
            <a:fld id="{47FEACEE-25B4-4A2D-B147-27296E36371D}" type="slidenum">
              <a:rPr lang="en-US" altLang="zh-CN" noProof="0" smtClean="0"/>
              <a:pPr/>
              <a:t>18</a:t>
            </a:fld>
            <a:endParaRPr lang="en-US" altLang="zh-CN" noProof="0" dirty="0"/>
          </a:p>
        </p:txBody>
      </p:sp>
    </p:spTree>
    <p:extLst>
      <p:ext uri="{BB962C8B-B14F-4D97-AF65-F5344CB8AC3E}">
        <p14:creationId xmlns:p14="http://schemas.microsoft.com/office/powerpoint/2010/main" val="3653915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BB25E-F673-121C-7B5E-8E46A504FA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974A882-4026-25C0-BEC7-86C304338C3C}"/>
              </a:ext>
            </a:extLst>
          </p:cNvPr>
          <p:cNvSpPr>
            <a:spLocks noGrp="1"/>
          </p:cNvSpPr>
          <p:nvPr>
            <p:ph type="title"/>
          </p:nvPr>
        </p:nvSpPr>
        <p:spPr>
          <a:xfrm>
            <a:off x="914400" y="731520"/>
            <a:ext cx="3931920" cy="2103120"/>
          </a:xfrm>
        </p:spPr>
        <p:txBody>
          <a:bodyPr anchor="b" anchorCtr="0"/>
          <a:lstStyle/>
          <a:p>
            <a:r>
              <a:rPr lang="en-US" dirty="0"/>
              <a:t>Nothing ever goes wrong</a:t>
            </a:r>
          </a:p>
        </p:txBody>
      </p:sp>
      <p:sp>
        <p:nvSpPr>
          <p:cNvPr id="20" name="Text Placeholder 19">
            <a:extLst>
              <a:ext uri="{FF2B5EF4-FFF2-40B4-BE49-F238E27FC236}">
                <a16:creationId xmlns:a16="http://schemas.microsoft.com/office/drawing/2014/main" id="{2AA7F7E4-A807-A480-B3F0-7B5A39CAB260}"/>
              </a:ext>
            </a:extLst>
          </p:cNvPr>
          <p:cNvSpPr>
            <a:spLocks noGrp="1"/>
          </p:cNvSpPr>
          <p:nvPr>
            <p:ph idx="1"/>
          </p:nvPr>
        </p:nvSpPr>
        <p:spPr>
          <a:xfrm>
            <a:off x="914400" y="3108960"/>
            <a:ext cx="3931920" cy="2651760"/>
          </a:xfrm>
        </p:spPr>
        <p:txBody>
          <a:bodyPr>
            <a:normAutofit/>
          </a:bodyPr>
          <a:lstStyle/>
          <a:p>
            <a:pPr marL="0" indent="0">
              <a:buNone/>
            </a:pPr>
            <a:r>
              <a:rPr lang="en-US" dirty="0"/>
              <a:t>If all answers to your questions indicate that everything is working well, then you're probably not getting the full story. Make sure that you expand your questions to ask about exceptions and problems that might arise and how they're handled currently.</a:t>
            </a:r>
          </a:p>
        </p:txBody>
      </p:sp>
      <p:sp>
        <p:nvSpPr>
          <p:cNvPr id="9" name="Slide Number Placeholder 13">
            <a:extLst>
              <a:ext uri="{FF2B5EF4-FFF2-40B4-BE49-F238E27FC236}">
                <a16:creationId xmlns:a16="http://schemas.microsoft.com/office/drawing/2014/main" id="{05AC24FC-E7F0-13D0-37F2-1B453F835DB6}"/>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E198667E-1BC2-B208-CDF9-D334A4E30048}"/>
              </a:ext>
            </a:extLst>
          </p:cNvPr>
          <p:cNvSpPr>
            <a:spLocks noGrp="1"/>
          </p:cNvSpPr>
          <p:nvPr>
            <p:ph type="sldNum" sz="quarter" idx="53"/>
          </p:nvPr>
        </p:nvSpPr>
        <p:spPr/>
        <p:txBody>
          <a:bodyPr/>
          <a:lstStyle/>
          <a:p>
            <a:fld id="{47FEACEE-25B4-4A2D-B147-27296E36371D}" type="slidenum">
              <a:rPr lang="en-US" altLang="zh-CN" noProof="0" smtClean="0"/>
              <a:pPr/>
              <a:t>19</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838DADC3-2C55-C2DC-6835-44C8A09620AA}"/>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5524A1F2-9140-94B5-72B3-8D6E785C0697}"/>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3728947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DAFCC-A0F1-4001-64D4-8983830C6D71}"/>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F633A597-F485-5E03-E417-AB2D56D8A1F5}"/>
              </a:ext>
            </a:extLst>
          </p:cNvPr>
          <p:cNvSpPr>
            <a:spLocks noGrp="1"/>
          </p:cNvSpPr>
          <p:nvPr>
            <p:ph type="title"/>
          </p:nvPr>
        </p:nvSpPr>
        <p:spPr>
          <a:xfrm>
            <a:off x="914400" y="1060704"/>
            <a:ext cx="7132320" cy="1773936"/>
          </a:xfrm>
        </p:spPr>
        <p:txBody>
          <a:bodyPr>
            <a:normAutofit/>
          </a:bodyPr>
          <a:lstStyle/>
          <a:p>
            <a:r>
              <a:rPr lang="en-US" dirty="0"/>
              <a:t>Everyone is new</a:t>
            </a:r>
          </a:p>
        </p:txBody>
      </p:sp>
      <p:sp>
        <p:nvSpPr>
          <p:cNvPr id="43" name="Text Placeholder 42">
            <a:extLst>
              <a:ext uri="{FF2B5EF4-FFF2-40B4-BE49-F238E27FC236}">
                <a16:creationId xmlns:a16="http://schemas.microsoft.com/office/drawing/2014/main" id="{45102F68-0A1C-7AD2-277A-3530FA6DCA6E}"/>
              </a:ext>
            </a:extLst>
          </p:cNvPr>
          <p:cNvSpPr>
            <a:spLocks noGrp="1"/>
          </p:cNvSpPr>
          <p:nvPr>
            <p:ph idx="1"/>
          </p:nvPr>
        </p:nvSpPr>
        <p:spPr>
          <a:xfrm>
            <a:off x="914399" y="3108959"/>
            <a:ext cx="3539613" cy="3242679"/>
          </a:xfrm>
        </p:spPr>
        <p:txBody>
          <a:bodyPr>
            <a:normAutofit/>
          </a:bodyPr>
          <a:lstStyle/>
          <a:p>
            <a:r>
              <a:rPr lang="en-US" dirty="0"/>
              <a:t>When you conduct your discovery, if the only answer that you receive is, "I'm new to the company and I only know my small part," then look for resources that can help fill in the missing details. </a:t>
            </a:r>
          </a:p>
        </p:txBody>
      </p:sp>
      <p:sp>
        <p:nvSpPr>
          <p:cNvPr id="44" name="Text Placeholder 43">
            <a:extLst>
              <a:ext uri="{FF2B5EF4-FFF2-40B4-BE49-F238E27FC236}">
                <a16:creationId xmlns:a16="http://schemas.microsoft.com/office/drawing/2014/main" id="{4551E737-64FE-1E5E-8B2D-97CA356AE16D}"/>
              </a:ext>
            </a:extLst>
          </p:cNvPr>
          <p:cNvSpPr>
            <a:spLocks noGrp="1"/>
          </p:cNvSpPr>
          <p:nvPr>
            <p:ph idx="56"/>
          </p:nvPr>
        </p:nvSpPr>
        <p:spPr>
          <a:xfrm>
            <a:off x="4754880" y="3108960"/>
            <a:ext cx="3291840" cy="2651760"/>
          </a:xfrm>
        </p:spPr>
        <p:txBody>
          <a:bodyPr>
            <a:normAutofit fontScale="92500" lnSpcReduction="10000"/>
          </a:bodyPr>
          <a:lstStyle/>
          <a:p>
            <a:r>
              <a:rPr lang="en-US" dirty="0"/>
              <a:t>The following suggestions can help you find answers:</a:t>
            </a:r>
          </a:p>
          <a:p>
            <a:pPr marL="285750" indent="-285750">
              <a:buFont typeface="Arial" panose="020B0604020202020204" pitchFamily="34" charset="0"/>
              <a:buChar char="•"/>
            </a:pPr>
            <a:r>
              <a:rPr lang="en-US" dirty="0"/>
              <a:t>Look for old system documentation or training materials.</a:t>
            </a:r>
          </a:p>
          <a:p>
            <a:pPr marL="285750" indent="-285750">
              <a:buFont typeface="Arial" panose="020B0604020202020204" pitchFamily="34" charset="0"/>
              <a:buChar char="•"/>
            </a:pPr>
            <a:r>
              <a:rPr lang="en-US" dirty="0"/>
              <a:t>Ask users if their predecessor provided documentation that explains how to do the process that they're taking over</a:t>
            </a:r>
          </a:p>
        </p:txBody>
      </p:sp>
      <p:sp>
        <p:nvSpPr>
          <p:cNvPr id="11" name="Slide Number Placeholder 13">
            <a:extLst>
              <a:ext uri="{FF2B5EF4-FFF2-40B4-BE49-F238E27FC236}">
                <a16:creationId xmlns:a16="http://schemas.microsoft.com/office/drawing/2014/main" id="{6A4141B6-05DB-8976-3334-16400871998F}"/>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7EF26751-F0DF-FEE9-D2C7-26910F1DAAAD}"/>
              </a:ext>
            </a:extLst>
          </p:cNvPr>
          <p:cNvSpPr>
            <a:spLocks noGrp="1"/>
          </p:cNvSpPr>
          <p:nvPr>
            <p:ph type="sldNum" sz="quarter" idx="55"/>
          </p:nvPr>
        </p:nvSpPr>
        <p:spPr/>
        <p:txBody>
          <a:bodyPr/>
          <a:lstStyle/>
          <a:p>
            <a:fld id="{47FEACEE-25B4-4A2D-B147-27296E36371D}" type="slidenum">
              <a:rPr lang="en-US" altLang="zh-CN" noProof="0" smtClean="0"/>
              <a:pPr/>
              <a:t>20</a:t>
            </a:fld>
            <a:endParaRPr lang="en-US" altLang="zh-CN" noProof="0" dirty="0"/>
          </a:p>
        </p:txBody>
      </p:sp>
    </p:spTree>
    <p:extLst>
      <p:ext uri="{BB962C8B-B14F-4D97-AF65-F5344CB8AC3E}">
        <p14:creationId xmlns:p14="http://schemas.microsoft.com/office/powerpoint/2010/main" val="880651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BC372-DE1F-574E-784B-642E6D4007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C5A1CCD-E8A7-A0E7-02A8-F666F593C709}"/>
              </a:ext>
            </a:extLst>
          </p:cNvPr>
          <p:cNvSpPr>
            <a:spLocks noGrp="1"/>
          </p:cNvSpPr>
          <p:nvPr>
            <p:ph type="title"/>
          </p:nvPr>
        </p:nvSpPr>
        <p:spPr>
          <a:xfrm>
            <a:off x="914400" y="731520"/>
            <a:ext cx="3931920" cy="2103120"/>
          </a:xfrm>
        </p:spPr>
        <p:txBody>
          <a:bodyPr anchor="b" anchorCtr="0"/>
          <a:lstStyle/>
          <a:p>
            <a:r>
              <a:rPr lang="en-US" dirty="0"/>
              <a:t>Drill down to the details</a:t>
            </a:r>
          </a:p>
        </p:txBody>
      </p:sp>
      <p:sp>
        <p:nvSpPr>
          <p:cNvPr id="20" name="Text Placeholder 19">
            <a:extLst>
              <a:ext uri="{FF2B5EF4-FFF2-40B4-BE49-F238E27FC236}">
                <a16:creationId xmlns:a16="http://schemas.microsoft.com/office/drawing/2014/main" id="{CE1AE657-C3D7-D483-08C2-6A63BC1B1803}"/>
              </a:ext>
            </a:extLst>
          </p:cNvPr>
          <p:cNvSpPr>
            <a:spLocks noGrp="1"/>
          </p:cNvSpPr>
          <p:nvPr>
            <p:ph idx="1"/>
          </p:nvPr>
        </p:nvSpPr>
        <p:spPr>
          <a:xfrm>
            <a:off x="914400" y="3108960"/>
            <a:ext cx="3931920" cy="2651760"/>
          </a:xfrm>
        </p:spPr>
        <p:txBody>
          <a:bodyPr>
            <a:normAutofit/>
          </a:bodyPr>
          <a:lstStyle/>
          <a:p>
            <a:pPr marL="0" indent="0">
              <a:buNone/>
            </a:pPr>
            <a:r>
              <a:rPr lang="en-US" dirty="0"/>
              <a:t>When asking questions, imagine that you're peeling back the layers of an onion, where each question exposes another layer and more details. Use those details to compose your next question. </a:t>
            </a:r>
          </a:p>
        </p:txBody>
      </p:sp>
      <p:sp>
        <p:nvSpPr>
          <p:cNvPr id="9" name="Slide Number Placeholder 13">
            <a:extLst>
              <a:ext uri="{FF2B5EF4-FFF2-40B4-BE49-F238E27FC236}">
                <a16:creationId xmlns:a16="http://schemas.microsoft.com/office/drawing/2014/main" id="{F84317E0-CB3F-3AAE-2E75-5AD7AC557E0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A42FD27-BBA0-8ED9-3E88-165A15ED0B48}"/>
              </a:ext>
            </a:extLst>
          </p:cNvPr>
          <p:cNvSpPr>
            <a:spLocks noGrp="1"/>
          </p:cNvSpPr>
          <p:nvPr>
            <p:ph type="sldNum" sz="quarter" idx="53"/>
          </p:nvPr>
        </p:nvSpPr>
        <p:spPr/>
        <p:txBody>
          <a:bodyPr/>
          <a:lstStyle/>
          <a:p>
            <a:fld id="{47FEACEE-25B4-4A2D-B147-27296E36371D}" type="slidenum">
              <a:rPr lang="en-US" altLang="zh-CN" noProof="0" smtClean="0"/>
              <a:pPr/>
              <a:t>21</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FB904A36-4F47-4F04-1EEA-5C6EF12CDC4A}"/>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F24250AA-C6CD-A597-76BD-5D72A306EAA2}"/>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474338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07C9B-589E-8DD3-5A95-094E498EF1B9}"/>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A14DBF11-52A1-8936-4731-C18F0EF8B2E2}"/>
              </a:ext>
            </a:extLst>
          </p:cNvPr>
          <p:cNvSpPr>
            <a:spLocks noGrp="1"/>
          </p:cNvSpPr>
          <p:nvPr>
            <p:ph type="title"/>
          </p:nvPr>
        </p:nvSpPr>
        <p:spPr>
          <a:xfrm>
            <a:off x="914400" y="1060704"/>
            <a:ext cx="7132320" cy="1773936"/>
          </a:xfrm>
        </p:spPr>
        <p:txBody>
          <a:bodyPr>
            <a:normAutofit/>
          </a:bodyPr>
          <a:lstStyle/>
          <a:p>
            <a:r>
              <a:rPr lang="en-US" dirty="0"/>
              <a:t>Expand scope or expectations</a:t>
            </a:r>
          </a:p>
        </p:txBody>
      </p:sp>
      <p:sp>
        <p:nvSpPr>
          <p:cNvPr id="43" name="Text Placeholder 42">
            <a:extLst>
              <a:ext uri="{FF2B5EF4-FFF2-40B4-BE49-F238E27FC236}">
                <a16:creationId xmlns:a16="http://schemas.microsoft.com/office/drawing/2014/main" id="{AA5C810B-6685-0B5A-73B3-4E8997098611}"/>
              </a:ext>
            </a:extLst>
          </p:cNvPr>
          <p:cNvSpPr>
            <a:spLocks noGrp="1"/>
          </p:cNvSpPr>
          <p:nvPr>
            <p:ph idx="1"/>
          </p:nvPr>
        </p:nvSpPr>
        <p:spPr>
          <a:xfrm>
            <a:off x="914399" y="3108959"/>
            <a:ext cx="3539613" cy="3242679"/>
          </a:xfrm>
        </p:spPr>
        <p:txBody>
          <a:bodyPr>
            <a:normAutofit/>
          </a:bodyPr>
          <a:lstStyle/>
          <a:p>
            <a:r>
              <a:rPr lang="en-US" dirty="0"/>
              <a:t>Be sensitive that your goal is discovery to complete your current assigned scope, and not in expanding. However, if you're good at working with customers, you might participate in solution envisioning where the focus is to explore possibilities</a:t>
            </a:r>
          </a:p>
        </p:txBody>
      </p:sp>
      <p:sp>
        <p:nvSpPr>
          <p:cNvPr id="11" name="Slide Number Placeholder 13">
            <a:extLst>
              <a:ext uri="{FF2B5EF4-FFF2-40B4-BE49-F238E27FC236}">
                <a16:creationId xmlns:a16="http://schemas.microsoft.com/office/drawing/2014/main" id="{CC82F690-FB89-B6E6-0292-912930EC4BA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8CE3DADA-B01F-00BB-5444-9E91DD6D513F}"/>
              </a:ext>
            </a:extLst>
          </p:cNvPr>
          <p:cNvSpPr>
            <a:spLocks noGrp="1"/>
          </p:cNvSpPr>
          <p:nvPr>
            <p:ph type="sldNum" sz="quarter" idx="55"/>
          </p:nvPr>
        </p:nvSpPr>
        <p:spPr/>
        <p:txBody>
          <a:bodyPr/>
          <a:lstStyle/>
          <a:p>
            <a:fld id="{47FEACEE-25B4-4A2D-B147-27296E36371D}" type="slidenum">
              <a:rPr lang="en-US" altLang="zh-CN" noProof="0" smtClean="0"/>
              <a:pPr/>
              <a:t>22</a:t>
            </a:fld>
            <a:endParaRPr lang="en-US" altLang="zh-CN" noProof="0" dirty="0"/>
          </a:p>
        </p:txBody>
      </p:sp>
    </p:spTree>
    <p:extLst>
      <p:ext uri="{BB962C8B-B14F-4D97-AF65-F5344CB8AC3E}">
        <p14:creationId xmlns:p14="http://schemas.microsoft.com/office/powerpoint/2010/main" val="3003804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Mirjam Nilsson</a:t>
            </a:r>
          </a:p>
          <a:p>
            <a:pPr lvl="0"/>
            <a:r>
              <a:rPr lang="en-US" dirty="0"/>
              <a:t>mirjam@contoso.com</a:t>
            </a:r>
          </a:p>
          <a:p>
            <a:pPr lvl="0"/>
            <a:r>
              <a:rPr lang="en-US" dirty="0"/>
              <a:t>www.contoso.com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68</TotalTime>
  <Words>1121</Words>
  <Application>Microsoft Office PowerPoint</Application>
  <PresentationFormat>Widescreen</PresentationFormat>
  <Paragraphs>128</Paragraphs>
  <Slides>23</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等线</vt:lpstr>
      <vt:lpstr>Abadi</vt:lpstr>
      <vt:lpstr>Arial</vt:lpstr>
      <vt:lpstr>Calibri</vt:lpstr>
      <vt:lpstr>Posterama</vt:lpstr>
      <vt:lpstr>Posterama Text SemiBold</vt:lpstr>
      <vt:lpstr>Custom</vt:lpstr>
      <vt:lpstr>Customers</vt:lpstr>
      <vt:lpstr>Agenda </vt:lpstr>
      <vt:lpstr>Basic information</vt:lpstr>
      <vt:lpstr>Company size</vt:lpstr>
      <vt:lpstr>Industry</vt:lpstr>
      <vt:lpstr>Locations</vt:lpstr>
      <vt:lpstr>Customer’s customer</vt:lpstr>
      <vt:lpstr>Offerings</vt:lpstr>
      <vt:lpstr>Sales cycle</vt:lpstr>
      <vt:lpstr>Vision and mission</vt:lpstr>
      <vt:lpstr>Ask good questions</vt:lpstr>
      <vt:lpstr>Potential troubles:</vt:lpstr>
      <vt:lpstr>Ask good questions</vt:lpstr>
      <vt:lpstr>Possible solutions</vt:lpstr>
      <vt:lpstr>Ask open-ended questions</vt:lpstr>
      <vt:lpstr>Choose how to ask a question</vt:lpstr>
      <vt:lpstr>Use existing requirements</vt:lpstr>
      <vt:lpstr>Conflicting information  The following reasons are some of the most common:</vt:lpstr>
      <vt:lpstr>Nothing ever goes wrong</vt:lpstr>
      <vt:lpstr>Everyone is new</vt:lpstr>
      <vt:lpstr>Drill down to the details</vt:lpstr>
      <vt:lpstr>Expand scope or expectations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3</cp:revision>
  <dcterms:created xsi:type="dcterms:W3CDTF">2026-05-18T13:07:38Z</dcterms:created>
  <dcterms:modified xsi:type="dcterms:W3CDTF">2026-06-05T13:27:07Z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