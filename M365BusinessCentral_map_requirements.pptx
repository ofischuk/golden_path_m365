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92" r:id="rId5"/>
    <p:sldId id="299" r:id="rId6"/>
    <p:sldId id="297" r:id="rId7"/>
    <p:sldId id="261" r:id="rId8"/>
    <p:sldId id="293" r:id="rId9"/>
    <p:sldId id="302" r:id="rId10"/>
    <p:sldId id="298" r:id="rId11"/>
    <p:sldId id="276" r:id="rId12"/>
    <p:sldId id="303" r:id="rId13"/>
    <p:sldId id="289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4400"/>
    <a:srgbClr val="446992"/>
    <a:srgbClr val="AEC2D8"/>
    <a:srgbClr val="98432A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839" autoAdjust="0"/>
  </p:normalViewPr>
  <p:slideViewPr>
    <p:cSldViewPr snapToGrid="0" showGuides="1">
      <p:cViewPr varScale="1">
        <p:scale>
          <a:sx n="78" d="100"/>
          <a:sy n="78" d="100"/>
        </p:scale>
        <p:origin x="878" y="67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6/3/2026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6/3/2026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679C-80C7-4E7D-9614-ABA41C5B285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506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5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093800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7353C-1BC7-4581-3D7A-60CD7A910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6427E3-22CF-CB8E-B314-7F43325D5D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79FF99-8F06-6603-38C5-AFDB2F4EF2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7B0CB5-9E74-69A8-E9FA-B70108A0CB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6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7098357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8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3774609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B0862-08E7-9E72-3A8C-893DB7E2E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84090E-F2FA-E0EE-7AED-D374621965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627D34-E772-6D2B-3A7B-D2F54A5A3E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38FA9-81AA-D9F2-7C26-A946215B73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9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205803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10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181820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820F9CA-E84D-E159-524A-398712EC6AFE}"/>
              </a:ext>
            </a:extLst>
          </p:cNvPr>
          <p:cNvGrpSpPr/>
          <p:nvPr userDrawn="1"/>
        </p:nvGrpSpPr>
        <p:grpSpPr>
          <a:xfrm>
            <a:off x="879765" y="-10376"/>
            <a:ext cx="10794247" cy="1864808"/>
            <a:chOff x="879765" y="-10376"/>
            <a:chExt cx="10794247" cy="1864808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7674207A-3643-0D40-E3B5-F11FCACBAA74}"/>
                </a:ext>
              </a:extLst>
            </p:cNvPr>
            <p:cNvSpPr/>
            <p:nvPr/>
          </p:nvSpPr>
          <p:spPr>
            <a:xfrm>
              <a:off x="8893126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7" name="Freeform: Shape 12">
              <a:extLst>
                <a:ext uri="{FF2B5EF4-FFF2-40B4-BE49-F238E27FC236}">
                  <a16:creationId xmlns:a16="http://schemas.microsoft.com/office/drawing/2014/main" id="{9619B847-88FE-63C2-96AC-161C08F5934F}"/>
                </a:ext>
              </a:extLst>
            </p:cNvPr>
            <p:cNvSpPr/>
            <p:nvPr/>
          </p:nvSpPr>
          <p:spPr>
            <a:xfrm>
              <a:off x="5985740" y="345168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28172F9-6711-D31B-2F7B-A4ECDEAB360C}"/>
                </a:ext>
              </a:extLst>
            </p:cNvPr>
            <p:cNvSpPr/>
            <p:nvPr/>
          </p:nvSpPr>
          <p:spPr>
            <a:xfrm>
              <a:off x="5255120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732E38F-F657-48F0-5783-63C7EDB52F87}"/>
                </a:ext>
              </a:extLst>
            </p:cNvPr>
            <p:cNvSpPr/>
            <p:nvPr/>
          </p:nvSpPr>
          <p:spPr>
            <a:xfrm>
              <a:off x="6710252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601F8F38-CEFA-8374-19C9-69BA4F7D10DF}"/>
                </a:ext>
              </a:extLst>
            </p:cNvPr>
            <p:cNvSpPr/>
            <p:nvPr/>
          </p:nvSpPr>
          <p:spPr>
            <a:xfrm>
              <a:off x="1610385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0659428E-002A-3B5E-D9E8-A2B206826D40}"/>
                </a:ext>
              </a:extLst>
            </p:cNvPr>
            <p:cNvSpPr/>
            <p:nvPr/>
          </p:nvSpPr>
          <p:spPr>
            <a:xfrm>
              <a:off x="879765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3F6BB30-EA63-53B6-1493-0B0220BC1FF8}"/>
                </a:ext>
              </a:extLst>
            </p:cNvPr>
            <p:cNvSpPr/>
            <p:nvPr/>
          </p:nvSpPr>
          <p:spPr>
            <a:xfrm>
              <a:off x="2336512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B6E5B6F-28D6-E7F3-B009-0B5623E38F22}"/>
                </a:ext>
              </a:extLst>
            </p:cNvPr>
            <p:cNvSpPr/>
            <p:nvPr/>
          </p:nvSpPr>
          <p:spPr>
            <a:xfrm>
              <a:off x="8160084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817D92F-B8AA-2300-DC90-9AA1D5E54408}"/>
                </a:ext>
              </a:extLst>
            </p:cNvPr>
            <p:cNvSpPr/>
            <p:nvPr/>
          </p:nvSpPr>
          <p:spPr>
            <a:xfrm>
              <a:off x="9615216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F40AC1C2-6632-AEFE-E7DF-2E1BB06D857A}"/>
                </a:ext>
              </a:extLst>
            </p:cNvPr>
            <p:cNvSpPr/>
            <p:nvPr/>
          </p:nvSpPr>
          <p:spPr>
            <a:xfrm>
              <a:off x="10342958" y="32052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7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70" r:id="rId4"/>
    <p:sldLayoutId id="2147483669" r:id="rId5"/>
    <p:sldLayoutId id="2147483655" r:id="rId6"/>
    <p:sldLayoutId id="2147483651" r:id="rId7"/>
    <p:sldLayoutId id="2147483662" r:id="rId8"/>
    <p:sldLayoutId id="2147483653" r:id="rId9"/>
    <p:sldLayoutId id="2147483663" r:id="rId10"/>
    <p:sldLayoutId id="214748366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lIns="0" anchor="b" anchorCtr="0"/>
          <a:lstStyle/>
          <a:p>
            <a:r>
              <a:rPr lang="en-US" altLang="zh-CN" dirty="0"/>
              <a:t>Map requirements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</p:spPr>
        <p:txBody>
          <a:bodyPr/>
          <a:lstStyle/>
          <a:p>
            <a:r>
              <a:rPr lang="en-US" dirty="0" err="1"/>
              <a:t>goldenpath</a:t>
            </a:r>
            <a:r>
              <a:rPr lang="en-US" dirty="0"/>
              <a:t>-software</a:t>
            </a:r>
          </a:p>
        </p:txBody>
      </p:sp>
      <p:pic>
        <p:nvPicPr>
          <p:cNvPr id="20" name="Picture Placeholder 19" descr="Two people looking at a laptop at a table">
            <a:extLst>
              <a:ext uri="{FF2B5EF4-FFF2-40B4-BE49-F238E27FC236}">
                <a16:creationId xmlns:a16="http://schemas.microsoft.com/office/drawing/2014/main" id="{E83BB08F-E403-8715-0B24-AD9E4B72C80E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 l="23" r="23"/>
          <a:stretch/>
        </p:blipFill>
        <p:spPr>
          <a:xfrm>
            <a:off x="6742557" y="821836"/>
            <a:ext cx="4405503" cy="5066346"/>
          </a:xfr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F021C-3CEB-0FBA-DA89-C9C82E741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 anchorCtr="0"/>
          <a:lstStyle/>
          <a:p>
            <a:r>
              <a:rPr lang="en-US" dirty="0"/>
              <a:t>Agenda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746B3-AFD9-641E-7CBF-9A783646B36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t" anchorCtr="0"/>
          <a:lstStyle/>
          <a:p>
            <a:r>
              <a:rPr lang="en-US" dirty="0"/>
              <a:t>Growth strategy</a:t>
            </a:r>
          </a:p>
          <a:p>
            <a:r>
              <a:rPr lang="en-US" dirty="0"/>
              <a:t>Market analysis</a:t>
            </a:r>
          </a:p>
          <a:p>
            <a:r>
              <a:rPr lang="en-US" dirty="0"/>
              <a:t>Financial overview</a:t>
            </a:r>
          </a:p>
          <a:p>
            <a:r>
              <a:rPr lang="en-US" dirty="0"/>
              <a:t>Innovative solutions</a:t>
            </a:r>
          </a:p>
          <a:p>
            <a:r>
              <a:rPr lang="en-US" dirty="0"/>
              <a:t>Future initiatives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59569-83D5-A20B-653C-B9D6C8D9816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485080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2A73C-F597-27B7-8F29-D6406DC4D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lIns="0" anchor="b" anchorCtr="0"/>
          <a:lstStyle/>
          <a:p>
            <a:r>
              <a:rPr lang="en-US" altLang="zh-CN" dirty="0"/>
              <a:t>Map requirements </a:t>
            </a:r>
            <a:r>
              <a:rPr lang="en-US" dirty="0"/>
              <a:t>MS Dynamics365 Business Central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90503-C2C6-37F4-4636-9B4A8A3DE4E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</p:spPr>
        <p:txBody>
          <a:bodyPr/>
          <a:lstStyle/>
          <a:p>
            <a:r>
              <a:rPr lang="en-US" dirty="0"/>
              <a:t>Navigating the future</a:t>
            </a:r>
          </a:p>
        </p:txBody>
      </p:sp>
    </p:spTree>
    <p:extLst>
      <p:ext uri="{BB962C8B-B14F-4D97-AF65-F5344CB8AC3E}">
        <p14:creationId xmlns:p14="http://schemas.microsoft.com/office/powerpoint/2010/main" val="3530111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  <a:noFill/>
        </p:spPr>
        <p:txBody>
          <a:bodyPr anchor="t" anchorCtr="0">
            <a:noAutofit/>
          </a:bodyPr>
          <a:lstStyle/>
          <a:p>
            <a:r>
              <a:rPr lang="en-US" b="0" dirty="0"/>
              <a:t>The mapping will commonly result in one of the following categories applying to the requirement: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3987" y="1750141"/>
            <a:ext cx="5033133" cy="4680155"/>
          </a:xfrm>
          <a:noFill/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Out-of-the-box</a:t>
            </a:r>
            <a:r>
              <a:rPr lang="en-US" dirty="0"/>
              <a:t> - The Dynamics 365 app has this requirement built in and needs to be enabled or minimal configuration. Sales opportunities tracking is a good example of this category.</a:t>
            </a:r>
          </a:p>
          <a:p>
            <a:r>
              <a:rPr lang="en-US" b="1" dirty="0"/>
              <a:t>Configuration</a:t>
            </a:r>
            <a:r>
              <a:rPr lang="en-US" dirty="0"/>
              <a:t> - The Dynamics 365 app doesn't support configuration by default, but by adding a few columns to tables or a few custom tables and maybe some automation, you can implement the requirement. For example, the requirement might be to track a commission amount on each opportunity. You could implement this requirement with some low code/no code configuration and perhaps some automation to automate the calculations.</a:t>
            </a:r>
          </a:p>
          <a:p>
            <a:r>
              <a:rPr lang="en-US" b="1" dirty="0"/>
              <a:t>Custom</a:t>
            </a:r>
            <a:r>
              <a:rPr lang="en-US" dirty="0"/>
              <a:t> - The Dynamics 365 app doesn't support customization, but you could accomplish it by including some code developer resources to build a custom component or logic. For example, a code developer on your team could create a Microsoft Power Apps Component Framework control to implement a custom product configurator on the opportunity form.</a:t>
            </a:r>
          </a:p>
          <a:p>
            <a:r>
              <a:rPr lang="en-US" b="1" dirty="0"/>
              <a:t>Partner solution</a:t>
            </a:r>
            <a:r>
              <a:rPr lang="en-US" dirty="0"/>
              <a:t> - Many partner solutions work with Dynamics 365 apps. For example, a product configurator could come from a partner solution instead of custom building.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4AF3B-CC38-C6F7-1058-2FC5EE48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59">
            <a:extLst>
              <a:ext uri="{FF2B5EF4-FFF2-40B4-BE49-F238E27FC236}">
                <a16:creationId xmlns:a16="http://schemas.microsoft.com/office/drawing/2014/main" id="{0031CE36-F77D-3964-C169-771DBA49D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/>
          <a:lstStyle/>
          <a:p>
            <a:r>
              <a:rPr lang="en-US" dirty="0"/>
              <a:t>Feasibility of a requirement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520E98B6-7B33-8FD4-A662-31DD4B85E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3108959"/>
            <a:ext cx="3539613" cy="3242679"/>
          </a:xfrm>
        </p:spPr>
        <p:txBody>
          <a:bodyPr>
            <a:normAutofit/>
          </a:bodyPr>
          <a:lstStyle/>
          <a:p>
            <a:r>
              <a:rPr lang="en-US" dirty="0"/>
              <a:t>Another benefit of the mapping exercise is to evaluate the feasibility of a requirement. Common reasons why requirements aren't feasible include: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78466807-A2DA-EC5D-ACDE-B83D6F7169EA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minimal number of people will use the feature.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feature isn't technically possible.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Regulations or laws prohibit the feature or process.</a:t>
            </a:r>
          </a:p>
          <a:p>
            <a:endParaRPr lang="en-US" dirty="0"/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930FF33C-2E3C-37EC-75C2-1BE4513D9B62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22DE72-77CB-CB24-A4D1-2FAC47307AC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5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182148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5A59C-6B27-7B92-9A07-3C03C7BAC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59">
            <a:extLst>
              <a:ext uri="{FF2B5EF4-FFF2-40B4-BE49-F238E27FC236}">
                <a16:creationId xmlns:a16="http://schemas.microsoft.com/office/drawing/2014/main" id="{F317DC08-AE93-F85F-22CB-CE452A1C3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/>
          <a:lstStyle/>
          <a:p>
            <a:r>
              <a:rPr lang="en-US" b="0" dirty="0"/>
              <a:t>Examples of poorly written requirements:</a:t>
            </a:r>
            <a:endParaRPr lang="en-US" dirty="0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D5286CCA-20DF-0424-A70A-BB6CB1423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3108959"/>
            <a:ext cx="7482349" cy="3242679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Users expect forms to load fast.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We're obligated to comply with General Data Protection Regulation.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Sales managers must approve the closing of significant deals when they're lost.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Budgets must be approved by John Doe when generated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Master planning should run in less than an hour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All frauds must be caught at point of sale.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5227ECA9-B640-F3D8-3C3F-6F52FEEAF903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0D4CF30-5594-B0D1-15F0-3D32B199780C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6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976174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A61EC-5F42-6AB8-DF35-480F07028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lIns="0" anchor="t" anchorCtr="0"/>
          <a:lstStyle/>
          <a:p>
            <a:r>
              <a:rPr lang="en-US" b="0" dirty="0"/>
              <a:t>fit-gap analysis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399339-FABF-04A2-4090-C38B947B2B8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</p:spPr>
        <p:txBody>
          <a:bodyPr anchor="b" anchorCtr="0"/>
          <a:lstStyle/>
          <a:p>
            <a:r>
              <a:rPr lang="en-US" dirty="0"/>
              <a:t>Unlocking new horizons</a:t>
            </a:r>
          </a:p>
        </p:txBody>
      </p:sp>
      <p:pic>
        <p:nvPicPr>
          <p:cNvPr id="12" name="Picture Placeholder 11" descr="A person sitting at their deck and a person walking to their desk">
            <a:extLst>
              <a:ext uri="{FF2B5EF4-FFF2-40B4-BE49-F238E27FC236}">
                <a16:creationId xmlns:a16="http://schemas.microsoft.com/office/drawing/2014/main" id="{7372550F-E2C0-2C0B-0ABA-5672CEBF71D0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2"/>
          <a:srcRect l="10" r="10"/>
          <a:stretch/>
        </p:blipFill>
        <p:spPr>
          <a:xfrm>
            <a:off x="7493157" y="529148"/>
            <a:ext cx="4248873" cy="4731130"/>
          </a:xfrm>
        </p:spPr>
      </p:pic>
    </p:spTree>
    <p:extLst>
      <p:ext uri="{BB962C8B-B14F-4D97-AF65-F5344CB8AC3E}">
        <p14:creationId xmlns:p14="http://schemas.microsoft.com/office/powerpoint/2010/main" val="2735087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 anchorCtr="0"/>
          <a:lstStyle/>
          <a:p>
            <a:r>
              <a:rPr lang="en-US" b="0" dirty="0"/>
              <a:t>fit-gap analysis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C0093B1-77CC-1E61-FB22-E136F94EAB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fit-gap analysis is a process of evaluating how good of a fit that a solution might be for the problem that's being solved</a:t>
            </a:r>
          </a:p>
          <a:p>
            <a:endParaRPr lang="en-US" dirty="0"/>
          </a:p>
          <a:p>
            <a:r>
              <a:rPr lang="en-US" dirty="0"/>
              <a:t> If you have a low "fit" percentage, then that app might not be a good starting point for building the solution.</a:t>
            </a:r>
          </a:p>
        </p:txBody>
      </p:sp>
      <p:pic>
        <p:nvPicPr>
          <p:cNvPr id="12" name="Picture Placeholder 11" descr="Three people having a discussion at a table">
            <a:extLst>
              <a:ext uri="{FF2B5EF4-FFF2-40B4-BE49-F238E27FC236}">
                <a16:creationId xmlns:a16="http://schemas.microsoft.com/office/drawing/2014/main" id="{8C4B5C6A-45B4-1976-622A-4CEB4E3211BC}"/>
              </a:ext>
            </a:extLst>
          </p:cNvPr>
          <p:cNvPicPr>
            <a:picLocks noGrp="1" noChangeAspect="1"/>
          </p:cNvPicPr>
          <p:nvPr>
            <p:ph type="pic" sz="quarter" idx="54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753"/>
                    </a14:imgEffect>
                    <a14:imgEffect>
                      <a14:saturation sat="133000"/>
                    </a14:imgEffect>
                    <a14:imgEffect>
                      <a14:brightnessContrast bright="4000" contrast="3000"/>
                    </a14:imgEffect>
                  </a14:imgLayer>
                </a14:imgProps>
              </a:ext>
            </a:extLst>
          </a:blip>
          <a:srcRect l="18665" r="18665"/>
          <a:stretch/>
        </p:blipFill>
        <p:spPr>
          <a:xfrm>
            <a:off x="5745002" y="0"/>
            <a:ext cx="6446999" cy="6858000"/>
          </a:xfrm>
        </p:spPr>
      </p:pic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D246665A-6901-3F62-340A-A95E775ACA48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6B3DA3-995E-263F-F271-D0DCB60A6118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8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B8D8D-5D70-CFD5-63A8-C3C5971C6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59">
            <a:extLst>
              <a:ext uri="{FF2B5EF4-FFF2-40B4-BE49-F238E27FC236}">
                <a16:creationId xmlns:a16="http://schemas.microsoft.com/office/drawing/2014/main" id="{30EBEEC1-CB3E-4713-C6BB-FF52B2F04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/>
          <a:lstStyle/>
          <a:p>
            <a:r>
              <a:rPr lang="en-US" dirty="0"/>
              <a:t>Proof-of-concept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47E2EA7B-72D4-4729-30FC-AED3E1B86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3108959"/>
            <a:ext cx="7393859" cy="3242679"/>
          </a:xfrm>
        </p:spPr>
        <p:txBody>
          <a:bodyPr>
            <a:normAutofit/>
          </a:bodyPr>
          <a:lstStyle/>
          <a:p>
            <a:r>
              <a:rPr lang="en-US" dirty="0"/>
              <a:t>Considering how a requirement will be implemented also has the benefit of identifying where you might need a proof-of-concept solution to identify how it will be implemented. </a:t>
            </a:r>
          </a:p>
          <a:p>
            <a:r>
              <a:rPr lang="en-US" dirty="0"/>
              <a:t>Proof-of concepts typically involve building or creating an example of how a problem might be solved.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C643DCA-915F-151D-897F-EF5074EACA70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422318-54A0-DED0-A1B5-03B5FE6015A0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9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43646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993E4D5-4AD0-4740-096D-6822944C8FF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</p:spPr>
        <p:txBody>
          <a:bodyPr/>
          <a:lstStyle/>
          <a:p>
            <a:r>
              <a:rPr lang="en-US" dirty="0"/>
              <a:t>Mirjam Nilsson</a:t>
            </a:r>
          </a:p>
          <a:p>
            <a:pPr lvl="0"/>
            <a:r>
              <a:rPr lang="en-US" dirty="0"/>
              <a:t>mirjam@contoso.com</a:t>
            </a:r>
          </a:p>
          <a:p>
            <a:pPr lvl="0"/>
            <a:r>
              <a:rPr lang="en-US" dirty="0"/>
              <a:t>www.contoso.com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{BE99236D-1AF8-4D1D-A489-9A37D2A989FD}TF63aebcec-8e39-4664-940a-dd6c2f00c54d020a9832_win32-3cdd3ee32610</Template>
  <TotalTime>65</TotalTime>
  <Words>482</Words>
  <Application>Microsoft Office PowerPoint</Application>
  <PresentationFormat>Widescreen</PresentationFormat>
  <Paragraphs>57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等线</vt:lpstr>
      <vt:lpstr>Abadi</vt:lpstr>
      <vt:lpstr>Arial</vt:lpstr>
      <vt:lpstr>Calibri</vt:lpstr>
      <vt:lpstr>Posterama</vt:lpstr>
      <vt:lpstr>Posterama Text SemiBold</vt:lpstr>
      <vt:lpstr>Wingdings</vt:lpstr>
      <vt:lpstr>Custom</vt:lpstr>
      <vt:lpstr>Map requirements</vt:lpstr>
      <vt:lpstr>Agenda </vt:lpstr>
      <vt:lpstr>Map requirements MS Dynamics365 Business Central</vt:lpstr>
      <vt:lpstr>The mapping will commonly result in one of the following categories applying to the requirement: </vt:lpstr>
      <vt:lpstr>Feasibility of a requirement</vt:lpstr>
      <vt:lpstr>Examples of poorly written requirements:</vt:lpstr>
      <vt:lpstr>fit-gap analysis</vt:lpstr>
      <vt:lpstr>fit-gap analysis</vt:lpstr>
      <vt:lpstr>Proof-of-concept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Oleksandr Fishchuk</dc:creator>
  <cp:lastModifiedBy>Oleksandr Fishchuk</cp:lastModifiedBy>
  <cp:revision>3</cp:revision>
  <dcterms:created xsi:type="dcterms:W3CDTF">2026-05-18T13:07:38Z</dcterms:created>
  <dcterms:modified xsi:type="dcterms:W3CDTF">2026-06-03T07:45:42Z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