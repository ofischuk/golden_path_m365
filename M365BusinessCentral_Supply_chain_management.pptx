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handoutMasterIdLst>
    <p:handoutMasterId r:id="rId28"/>
  </p:handoutMasterIdLst>
  <p:sldIdLst>
    <p:sldId id="292" r:id="rId5"/>
    <p:sldId id="299" r:id="rId6"/>
    <p:sldId id="297" r:id="rId7"/>
    <p:sldId id="261" r:id="rId8"/>
    <p:sldId id="306" r:id="rId9"/>
    <p:sldId id="301" r:id="rId10"/>
    <p:sldId id="314" r:id="rId11"/>
    <p:sldId id="311" r:id="rId12"/>
    <p:sldId id="315" r:id="rId13"/>
    <p:sldId id="312" r:id="rId14"/>
    <p:sldId id="316" r:id="rId15"/>
    <p:sldId id="313" r:id="rId16"/>
    <p:sldId id="317" r:id="rId17"/>
    <p:sldId id="307" r:id="rId18"/>
    <p:sldId id="319" r:id="rId19"/>
    <p:sldId id="308" r:id="rId20"/>
    <p:sldId id="318" r:id="rId21"/>
    <p:sldId id="304" r:id="rId22"/>
    <p:sldId id="320" r:id="rId23"/>
    <p:sldId id="322" r:id="rId24"/>
    <p:sldId id="321" r:id="rId25"/>
    <p:sldId id="289"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839" autoAdjust="0"/>
  </p:normalViewPr>
  <p:slideViewPr>
    <p:cSldViewPr snapToGrid="0" showGuides="1">
      <p:cViewPr varScale="1">
        <p:scale>
          <a:sx n="74" d="100"/>
          <a:sy n="74" d="100"/>
        </p:scale>
        <p:origin x="1042" y="72"/>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5/27/2026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5/27/2026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60679C-80C7-4E7D-9614-ABA41C5B2858}" type="slidenum">
              <a:rPr lang="en-US" smtClean="0"/>
              <a:t>4</a:t>
            </a:fld>
            <a:endParaRPr lang="en-US" dirty="0"/>
          </a:p>
        </p:txBody>
      </p:sp>
    </p:spTree>
    <p:extLst>
      <p:ext uri="{BB962C8B-B14F-4D97-AF65-F5344CB8AC3E}">
        <p14:creationId xmlns:p14="http://schemas.microsoft.com/office/powerpoint/2010/main" val="1891506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CE351-D547-E59A-579A-9577B8C52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CE5027-21D4-48DF-182A-B6CBDF92CFB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E5E1C011-8A8E-1716-BBEE-5AAD8E47E297}"/>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86514F9-9D1B-3248-A1AC-8AAB111E30F3}"/>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extLst>
      <p:ext uri="{BB962C8B-B14F-4D97-AF65-F5344CB8AC3E}">
        <p14:creationId xmlns:p14="http://schemas.microsoft.com/office/powerpoint/2010/main" val="3589832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3B394-319B-62BE-1BD9-F5041CF656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0162B-2D89-7B62-F39D-A939D4E31566}"/>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9E48C2DF-6205-9D88-373F-48E52A33B56E}"/>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67BE19A5-4C08-FAE2-B398-246409A1D607}"/>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364754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31238-5765-893F-23F4-C22B99BB59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CC06A-3A48-EDE7-06F9-5D1289095259}"/>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27809984-351A-F401-368E-FB3B9B4D2714}"/>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5F057EF2-6BD5-766D-F8D1-0078E03DCC3A}"/>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867711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B43B8-E3A6-FCD2-BC3B-6AFA583CA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7025B-82C0-746F-2878-42D5C99EF421}"/>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AAD26F9E-DC0A-2038-95BF-2F83B7E2087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51C3D168-BAB0-EC65-B379-DFD931FB57F9}"/>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4069851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6DB4E-AF55-F847-81F9-95B633C6A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E25BF-D9E7-406F-5E58-D44B0C116A34}"/>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7CDE9DA7-956B-04F3-0510-7AEA6AB4372E}"/>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9419F150-61BA-DA75-C74E-11288C6144FA}"/>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dirty="0"/>
          </a:p>
        </p:txBody>
      </p:sp>
    </p:spTree>
    <p:extLst>
      <p:ext uri="{BB962C8B-B14F-4D97-AF65-F5344CB8AC3E}">
        <p14:creationId xmlns:p14="http://schemas.microsoft.com/office/powerpoint/2010/main" val="35032081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BED9D-D60F-0EB2-F40E-712139818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B58994-DAB9-6840-E2C4-B3932D2B278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4721F6BE-A7F9-6C4E-7497-C72F4AFD5473}"/>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E00EB151-C610-1B9A-1EC1-72F92C315881}"/>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dirty="0"/>
          </a:p>
        </p:txBody>
      </p:sp>
    </p:spTree>
    <p:extLst>
      <p:ext uri="{BB962C8B-B14F-4D97-AF65-F5344CB8AC3E}">
        <p14:creationId xmlns:p14="http://schemas.microsoft.com/office/powerpoint/2010/main" val="3326536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8FEF7-E751-B618-0190-FFF9CBEF3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DD5CCA-1C84-2AA6-5B6B-6276D9E14B1C}"/>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ED50706E-B28A-ACCE-81DD-B247FE196934}"/>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072B5134-29CF-15E4-3277-1FB47F0B5B29}"/>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dirty="0"/>
          </a:p>
        </p:txBody>
      </p:sp>
    </p:spTree>
    <p:extLst>
      <p:ext uri="{BB962C8B-B14F-4D97-AF65-F5344CB8AC3E}">
        <p14:creationId xmlns:p14="http://schemas.microsoft.com/office/powerpoint/2010/main" val="5256773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436EC-77F5-AD46-DF24-F23A1446A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3446F6-3C80-9A53-FD85-95C370F980A6}"/>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E08561BF-3F2E-27BB-F552-A3F18745437B}"/>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FC58320-D492-E7B0-8ACA-23B969490BFC}"/>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3202190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D33BD-273A-AAF6-679E-014096400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4CA62-D61A-5626-B137-7219F7EE66B1}"/>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99045B29-BA56-DEC5-6446-CA3024CD72E8}"/>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672B65AF-43FE-0DAF-3A92-EF023CC4103D}"/>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15</a:t>
            </a:fld>
            <a:endParaRPr lang="en-US" altLang="zh-CN" noProof="0" dirty="0"/>
          </a:p>
        </p:txBody>
      </p:sp>
    </p:spTree>
    <p:extLst>
      <p:ext uri="{BB962C8B-B14F-4D97-AF65-F5344CB8AC3E}">
        <p14:creationId xmlns:p14="http://schemas.microsoft.com/office/powerpoint/2010/main" val="27510953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0C5A3-9E83-5798-C9D6-D9BED7951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47C58-7D09-0130-294A-0142D8FB7E26}"/>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7D5A3251-5CA7-3B8E-0E61-BB79D945D02B}"/>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864D3288-BD7B-4ADF-459C-5F34D52E3282}"/>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16</a:t>
            </a:fld>
            <a:endParaRPr lang="en-US" altLang="zh-CN" noProof="0" dirty="0"/>
          </a:p>
        </p:txBody>
      </p:sp>
    </p:spTree>
    <p:extLst>
      <p:ext uri="{BB962C8B-B14F-4D97-AF65-F5344CB8AC3E}">
        <p14:creationId xmlns:p14="http://schemas.microsoft.com/office/powerpoint/2010/main" val="772844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EF18E-2682-FCF5-42C8-B7A603208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1A4FE2-9F70-F1E7-6F6B-E26F0F622647}"/>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D7F58669-0A8E-5AEE-0917-E52B0A7FCF80}"/>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C12AAE3D-427B-23C3-386F-86FD9EC712EF}"/>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17</a:t>
            </a:fld>
            <a:endParaRPr lang="en-US" altLang="zh-CN" noProof="0" dirty="0"/>
          </a:p>
        </p:txBody>
      </p:sp>
    </p:spTree>
    <p:extLst>
      <p:ext uri="{BB962C8B-B14F-4D97-AF65-F5344CB8AC3E}">
        <p14:creationId xmlns:p14="http://schemas.microsoft.com/office/powerpoint/2010/main" val="2474491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C2215-9386-D729-EDBD-2EA2BC4D6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9F556-C94B-9D0D-E3D8-6A7E219023DF}"/>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B825EF17-C7B5-75F1-1003-03A3404FABE7}"/>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0586DF1-C27A-87B9-FE1C-D3C2AD116EE8}"/>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18</a:t>
            </a:fld>
            <a:endParaRPr lang="en-US" altLang="zh-CN" noProof="0" dirty="0"/>
          </a:p>
        </p:txBody>
      </p:sp>
    </p:spTree>
    <p:extLst>
      <p:ext uri="{BB962C8B-B14F-4D97-AF65-F5344CB8AC3E}">
        <p14:creationId xmlns:p14="http://schemas.microsoft.com/office/powerpoint/2010/main" val="1985985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D0022-3C87-8EA4-51D2-3A5DCCE4B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C5CE27-A317-A205-566A-6CED44D05B2D}"/>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337F3003-C71A-42F8-1176-FF6FBC992AEB}"/>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D7854676-EAD4-B161-3665-62DB10D402F1}"/>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19</a:t>
            </a:fld>
            <a:endParaRPr lang="en-US" altLang="zh-CN" noProof="0" dirty="0"/>
          </a:p>
        </p:txBody>
      </p:sp>
    </p:spTree>
    <p:extLst>
      <p:ext uri="{BB962C8B-B14F-4D97-AF65-F5344CB8AC3E}">
        <p14:creationId xmlns:p14="http://schemas.microsoft.com/office/powerpoint/2010/main" val="2580530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E98FB-C8C1-DB1A-832F-1B4477CA50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DDE42C-EFF2-AD35-4435-1C2220833491}"/>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94ABC056-9D6E-B394-FF4F-12E7B1A93B72}"/>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2059ECBD-81B5-F584-0785-8CAA9CA9A99B}"/>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20</a:t>
            </a:fld>
            <a:endParaRPr lang="en-US" altLang="zh-CN" noProof="0" dirty="0"/>
          </a:p>
        </p:txBody>
      </p:sp>
    </p:spTree>
    <p:extLst>
      <p:ext uri="{BB962C8B-B14F-4D97-AF65-F5344CB8AC3E}">
        <p14:creationId xmlns:p14="http://schemas.microsoft.com/office/powerpoint/2010/main" val="20260470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FB775-A464-17F8-DAA0-BC4B72B4A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8285B-78AF-9697-CFA7-E9F479A31658}"/>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AA8FF15D-4C6D-4870-8420-E6F06302049E}"/>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5521DB7C-EBC8-B080-03D6-A713EC73C18F}"/>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21</a:t>
            </a:fld>
            <a:endParaRPr lang="en-US" altLang="zh-CN" noProof="0" dirty="0"/>
          </a:p>
        </p:txBody>
      </p:sp>
    </p:spTree>
    <p:extLst>
      <p:ext uri="{BB962C8B-B14F-4D97-AF65-F5344CB8AC3E}">
        <p14:creationId xmlns:p14="http://schemas.microsoft.com/office/powerpoint/2010/main" val="42611189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22</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altLang="zh-CN" dirty="0"/>
              <a:t>MS Dynamics365 Supply chain management</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err="1"/>
              <a:t>goldenpath</a:t>
            </a:r>
            <a:r>
              <a:rPr lang="en-US" dirty="0"/>
              <a:t>-software</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Growth strategy</a:t>
            </a:r>
          </a:p>
          <a:p>
            <a:r>
              <a:rPr lang="en-US" dirty="0"/>
              <a:t>Market analysis</a:t>
            </a:r>
          </a:p>
          <a:p>
            <a:r>
              <a:rPr lang="en-US" dirty="0"/>
              <a:t>Financial overview</a:t>
            </a:r>
          </a:p>
          <a:p>
            <a:r>
              <a:rPr lang="en-US" dirty="0"/>
              <a:t>Innovative solutions</a:t>
            </a:r>
          </a:p>
          <a:p>
            <a:r>
              <a:rPr lang="en-US" dirty="0"/>
              <a:t>Future initiatives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Introduction to </a:t>
            </a:r>
            <a:r>
              <a:rPr lang="en-US" altLang="zh-CN" dirty="0"/>
              <a:t>Dynamics365 Supply chain management</a:t>
            </a:r>
            <a:endParaRPr lang="en-US" dirty="0"/>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Navigating the future</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altLang="zh-CN" dirty="0"/>
              <a:t>Dynamics365 Supply chain management</a:t>
            </a:r>
            <a:br>
              <a:rPr lang="en-US" dirty="0"/>
            </a:br>
            <a:br>
              <a:rPr lang="en-US" dirty="0"/>
            </a:br>
            <a:endParaRPr lang="en-US" dirty="0"/>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487168"/>
            <a:ext cx="5029200" cy="3383280"/>
          </a:xfrm>
          <a:noFill/>
        </p:spPr>
        <p:txBody>
          <a:bodyPr>
            <a:normAutofit/>
          </a:bodyPr>
          <a:lstStyle/>
          <a:p>
            <a:pPr marL="0" indent="0">
              <a:buNone/>
            </a:pPr>
            <a:r>
              <a:rPr lang="en-US" dirty="0"/>
              <a:t>With Business Central, you can streamline your supply chain</a:t>
            </a:r>
          </a:p>
          <a:p>
            <a:r>
              <a:rPr lang="en-US" dirty="0"/>
              <a:t>sales/purchase orders </a:t>
            </a:r>
          </a:p>
          <a:p>
            <a:r>
              <a:rPr lang="en-US" dirty="0"/>
              <a:t>blanket sales/purchase orders </a:t>
            </a:r>
          </a:p>
          <a:p>
            <a:r>
              <a:rPr lang="en-US" dirty="0"/>
              <a:t>invoice without an order process </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943A4-98EB-443E-FCC5-A40B8E34C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8F462F-E8D5-27AB-1992-2847A5FD06A9}"/>
              </a:ext>
            </a:extLst>
          </p:cNvPr>
          <p:cNvSpPr>
            <a:spLocks noGrp="1"/>
          </p:cNvSpPr>
          <p:nvPr>
            <p:ph type="title"/>
          </p:nvPr>
        </p:nvSpPr>
        <p:spPr>
          <a:xfrm>
            <a:off x="1143000" y="3200400"/>
            <a:ext cx="5029200" cy="2743200"/>
          </a:xfrm>
        </p:spPr>
        <p:txBody>
          <a:bodyPr lIns="0" anchor="t" anchorCtr="0"/>
          <a:lstStyle/>
          <a:p>
            <a:r>
              <a:rPr lang="en-US" dirty="0"/>
              <a:t>Documents</a:t>
            </a:r>
          </a:p>
        </p:txBody>
      </p:sp>
      <p:sp>
        <p:nvSpPr>
          <p:cNvPr id="3" name="Text Placeholder 2">
            <a:extLst>
              <a:ext uri="{FF2B5EF4-FFF2-40B4-BE49-F238E27FC236}">
                <a16:creationId xmlns:a16="http://schemas.microsoft.com/office/drawing/2014/main" id="{9C15193D-DCEB-416D-C31C-E2E0AF63DEB5}"/>
              </a:ext>
            </a:extLst>
          </p:cNvPr>
          <p:cNvSpPr>
            <a:spLocks noGrp="1"/>
          </p:cNvSpPr>
          <p:nvPr>
            <p:ph type="body" sz="quarter" idx="28"/>
          </p:nvPr>
        </p:nvSpPr>
        <p:spPr>
          <a:xfrm>
            <a:off x="1261872" y="2240280"/>
            <a:ext cx="5029200" cy="760288"/>
          </a:xfrm>
        </p:spPr>
        <p:txBody>
          <a:bodyPr anchor="b" anchorCtr="0"/>
          <a:lstStyle/>
          <a:p>
            <a:r>
              <a:rPr lang="en-US" dirty="0"/>
              <a:t>Unlocking new horizons</a:t>
            </a:r>
          </a:p>
        </p:txBody>
      </p:sp>
      <p:pic>
        <p:nvPicPr>
          <p:cNvPr id="12" name="Picture Placeholder 11" descr="A person sitting at their deck and a person walking to their desk">
            <a:extLst>
              <a:ext uri="{FF2B5EF4-FFF2-40B4-BE49-F238E27FC236}">
                <a16:creationId xmlns:a16="http://schemas.microsoft.com/office/drawing/2014/main" id="{13B06085-25DA-1016-E13A-518EE45F3513}"/>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3717920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BBA0F-2245-09A6-EB34-7FBAA14B70D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A492BFE-6958-8DD1-B034-D6CDF2EDECBE}"/>
              </a:ext>
            </a:extLst>
          </p:cNvPr>
          <p:cNvSpPr>
            <a:spLocks noGrp="1"/>
          </p:cNvSpPr>
          <p:nvPr>
            <p:ph type="title"/>
          </p:nvPr>
        </p:nvSpPr>
        <p:spPr>
          <a:xfrm>
            <a:off x="914400" y="731520"/>
            <a:ext cx="3931920" cy="2103120"/>
          </a:xfrm>
        </p:spPr>
        <p:txBody>
          <a:bodyPr anchor="b" anchorCtr="0"/>
          <a:lstStyle/>
          <a:p>
            <a:r>
              <a:rPr lang="en-US" dirty="0"/>
              <a:t>Sales orders</a:t>
            </a:r>
          </a:p>
        </p:txBody>
      </p:sp>
      <p:sp>
        <p:nvSpPr>
          <p:cNvPr id="20" name="Text Placeholder 19">
            <a:extLst>
              <a:ext uri="{FF2B5EF4-FFF2-40B4-BE49-F238E27FC236}">
                <a16:creationId xmlns:a16="http://schemas.microsoft.com/office/drawing/2014/main" id="{FB465812-A634-6E97-E99D-FA6774F4F31A}"/>
              </a:ext>
            </a:extLst>
          </p:cNvPr>
          <p:cNvSpPr>
            <a:spLocks noGrp="1"/>
          </p:cNvSpPr>
          <p:nvPr>
            <p:ph idx="1"/>
          </p:nvPr>
        </p:nvSpPr>
        <p:spPr>
          <a:xfrm>
            <a:off x="914400" y="3108960"/>
            <a:ext cx="3931920" cy="2651760"/>
          </a:xfrm>
        </p:spPr>
        <p:txBody>
          <a:bodyPr>
            <a:normAutofit/>
          </a:bodyPr>
          <a:lstStyle/>
          <a:p>
            <a:pPr marL="0" indent="0">
              <a:buNone/>
            </a:pPr>
            <a:r>
              <a:rPr lang="en-US" dirty="0"/>
              <a:t>use sales orders if your sales process requires that you ship parts of an order quantity, for example, because the full quantity isn't available at once</a:t>
            </a:r>
          </a:p>
        </p:txBody>
      </p:sp>
      <p:sp>
        <p:nvSpPr>
          <p:cNvPr id="9" name="Slide Number Placeholder 13">
            <a:extLst>
              <a:ext uri="{FF2B5EF4-FFF2-40B4-BE49-F238E27FC236}">
                <a16:creationId xmlns:a16="http://schemas.microsoft.com/office/drawing/2014/main" id="{F2F9DFCB-2C8F-3FA1-04A4-0F17BB7C2DFD}"/>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1AAA860C-B08E-C71C-1D3D-6A2502AF15E9}"/>
              </a:ext>
            </a:extLst>
          </p:cNvPr>
          <p:cNvSpPr>
            <a:spLocks noGrp="1"/>
          </p:cNvSpPr>
          <p:nvPr>
            <p:ph type="sldNum" sz="quarter" idx="53"/>
          </p:nvPr>
        </p:nvSpPr>
        <p:spPr/>
        <p:txBody>
          <a:bodyPr/>
          <a:lstStyle/>
          <a:p>
            <a:fld id="{47FEACEE-25B4-4A2D-B147-27296E36371D}" type="slidenum">
              <a:rPr lang="en-US" altLang="zh-CN" noProof="0" smtClean="0"/>
              <a:pPr/>
              <a:t>6</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A5C6DBD7-0360-D6B3-1CF0-E77FE1E24E13}"/>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996931FF-BD10-1803-1E5F-708A61E33F4C}"/>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2519358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35FD9-F1D6-6677-C5E5-FBBA593DFC5B}"/>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AA14AEA3-74FC-FAE3-AACA-7B0390A8ACEA}"/>
              </a:ext>
            </a:extLst>
          </p:cNvPr>
          <p:cNvSpPr>
            <a:spLocks noGrp="1"/>
          </p:cNvSpPr>
          <p:nvPr>
            <p:ph type="title"/>
          </p:nvPr>
        </p:nvSpPr>
        <p:spPr>
          <a:xfrm>
            <a:off x="754049" y="261503"/>
            <a:ext cx="9601200" cy="1737360"/>
          </a:xfrm>
        </p:spPr>
        <p:txBody>
          <a:bodyPr vert="horz" lIns="91440" tIns="45720" rIns="91440" bIns="45720" rtlCol="0" anchor="t">
            <a:normAutofit/>
          </a:bodyPr>
          <a:lstStyle/>
          <a:p>
            <a:r>
              <a:rPr lang="en-US" b="1" kern="1200" dirty="0">
                <a:latin typeface="+mj-lt"/>
                <a:ea typeface="+mj-ea"/>
                <a:cs typeface="+mj-cs"/>
              </a:rPr>
              <a:t>Sales order</a:t>
            </a:r>
          </a:p>
        </p:txBody>
      </p:sp>
      <p:sp>
        <p:nvSpPr>
          <p:cNvPr id="2" name="Slide Number Placeholder 1">
            <a:extLst>
              <a:ext uri="{FF2B5EF4-FFF2-40B4-BE49-F238E27FC236}">
                <a16:creationId xmlns:a16="http://schemas.microsoft.com/office/drawing/2014/main" id="{7A1E4C44-86BA-7A75-8824-78DB47781937}"/>
              </a:ext>
            </a:extLst>
          </p:cNvPr>
          <p:cNvSpPr>
            <a:spLocks noGrp="1"/>
          </p:cNvSpPr>
          <p:nvPr>
            <p:ph type="sldNum" sz="quarter" idx="29"/>
          </p:nvPr>
        </p:nvSpPr>
        <p:spPr>
          <a:xfrm>
            <a:off x="11194169" y="6217920"/>
            <a:ext cx="458592" cy="365125"/>
          </a:xfrm>
        </p:spPr>
        <p:txBody>
          <a:bodyPr vert="horz" lIns="91440" tIns="45720" rIns="91440" bIns="45720" rtlCol="0" anchor="ctr">
            <a:normAutofit/>
          </a:bodyPr>
          <a:lstStyle/>
          <a:p>
            <a:pPr>
              <a:spcAft>
                <a:spcPts val="600"/>
              </a:spcAft>
            </a:pPr>
            <a:fld id="{47FEACEE-25B4-4A2D-B147-27296E36371D}" type="slidenum">
              <a:rPr lang="en-US" altLang="zh-CN" smtClean="0"/>
              <a:pPr>
                <a:spcAft>
                  <a:spcPts val="600"/>
                </a:spcAft>
              </a:pPr>
              <a:t>7</a:t>
            </a:fld>
            <a:endParaRPr lang="en-US" altLang="zh-CN"/>
          </a:p>
        </p:txBody>
      </p:sp>
      <p:pic>
        <p:nvPicPr>
          <p:cNvPr id="6" name="Content Placeholder 5">
            <a:extLst>
              <a:ext uri="{FF2B5EF4-FFF2-40B4-BE49-F238E27FC236}">
                <a16:creationId xmlns:a16="http://schemas.microsoft.com/office/drawing/2014/main" id="{0DB71057-D74F-CA52-BFD1-98C2D3C2CEF0}"/>
              </a:ext>
            </a:extLst>
          </p:cNvPr>
          <p:cNvPicPr>
            <a:picLocks noGrp="1" noChangeAspect="1"/>
          </p:cNvPicPr>
          <p:nvPr>
            <p:ph idx="30"/>
          </p:nvPr>
        </p:nvPicPr>
        <p:blipFill>
          <a:blip r:embed="rId3"/>
          <a:stretch>
            <a:fillRect/>
          </a:stretch>
        </p:blipFill>
        <p:spPr>
          <a:xfrm>
            <a:off x="754049" y="1130183"/>
            <a:ext cx="9356305" cy="4986455"/>
          </a:xfrm>
          <a:prstGeom prst="rect">
            <a:avLst/>
          </a:prstGeom>
        </p:spPr>
      </p:pic>
    </p:spTree>
    <p:extLst>
      <p:ext uri="{BB962C8B-B14F-4D97-AF65-F5344CB8AC3E}">
        <p14:creationId xmlns:p14="http://schemas.microsoft.com/office/powerpoint/2010/main" val="3602890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B5847-AD74-8849-56E9-E40D72F5AC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D6B37FB-71AC-323E-4133-C503B8C22BF3}"/>
              </a:ext>
            </a:extLst>
          </p:cNvPr>
          <p:cNvSpPr>
            <a:spLocks noGrp="1"/>
          </p:cNvSpPr>
          <p:nvPr>
            <p:ph type="title"/>
          </p:nvPr>
        </p:nvSpPr>
        <p:spPr>
          <a:xfrm>
            <a:off x="914400" y="731520"/>
            <a:ext cx="3931920" cy="2103120"/>
          </a:xfrm>
        </p:spPr>
        <p:txBody>
          <a:bodyPr anchor="b" anchorCtr="0"/>
          <a:lstStyle/>
          <a:p>
            <a:r>
              <a:rPr lang="en-US" dirty="0"/>
              <a:t>Purchase orders</a:t>
            </a:r>
          </a:p>
        </p:txBody>
      </p:sp>
      <p:sp>
        <p:nvSpPr>
          <p:cNvPr id="20" name="Text Placeholder 19">
            <a:extLst>
              <a:ext uri="{FF2B5EF4-FFF2-40B4-BE49-F238E27FC236}">
                <a16:creationId xmlns:a16="http://schemas.microsoft.com/office/drawing/2014/main" id="{68BF3172-575E-C783-E161-F3764DCA5F7D}"/>
              </a:ext>
            </a:extLst>
          </p:cNvPr>
          <p:cNvSpPr>
            <a:spLocks noGrp="1"/>
          </p:cNvSpPr>
          <p:nvPr>
            <p:ph idx="1"/>
          </p:nvPr>
        </p:nvSpPr>
        <p:spPr>
          <a:xfrm>
            <a:off x="914400" y="3108960"/>
            <a:ext cx="3931920" cy="2651760"/>
          </a:xfrm>
        </p:spPr>
        <p:txBody>
          <a:bodyPr>
            <a:normAutofit/>
          </a:bodyPr>
          <a:lstStyle/>
          <a:p>
            <a:pPr marL="0" indent="0">
              <a:buNone/>
            </a:pPr>
            <a:r>
              <a:rPr lang="en-US" dirty="0"/>
              <a:t>use purchase orders if your purchasing process requires that you record partial receipts of an order quantity, for example, because the full quantity was not available at the vendor</a:t>
            </a:r>
          </a:p>
        </p:txBody>
      </p:sp>
      <p:sp>
        <p:nvSpPr>
          <p:cNvPr id="9" name="Slide Number Placeholder 13">
            <a:extLst>
              <a:ext uri="{FF2B5EF4-FFF2-40B4-BE49-F238E27FC236}">
                <a16:creationId xmlns:a16="http://schemas.microsoft.com/office/drawing/2014/main" id="{1DDD5DD9-6705-9BD2-0F8E-3120B0410D8F}"/>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64B7511-17B1-85BF-D0C0-B1A5679DBDC4}"/>
              </a:ext>
            </a:extLst>
          </p:cNvPr>
          <p:cNvSpPr>
            <a:spLocks noGrp="1"/>
          </p:cNvSpPr>
          <p:nvPr>
            <p:ph type="sldNum" sz="quarter" idx="53"/>
          </p:nvPr>
        </p:nvSpPr>
        <p:spPr/>
        <p:txBody>
          <a:bodyPr/>
          <a:lstStyle/>
          <a:p>
            <a:fld id="{47FEACEE-25B4-4A2D-B147-27296E36371D}" type="slidenum">
              <a:rPr lang="en-US" altLang="zh-CN" noProof="0" smtClean="0"/>
              <a:pPr/>
              <a:t>8</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CFF0F1EB-51B9-2C79-FC4F-AB9F0C5D0BE6}"/>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7937BFCB-0B0D-BB1A-CF14-CE27681F7D80}"/>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2927782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FF309-A270-5D89-9C4A-86CD1B6228B5}"/>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F1A44E09-F3E4-8AA1-AD45-20FB589B1CB1}"/>
              </a:ext>
            </a:extLst>
          </p:cNvPr>
          <p:cNvSpPr>
            <a:spLocks noGrp="1"/>
          </p:cNvSpPr>
          <p:nvPr>
            <p:ph type="title"/>
          </p:nvPr>
        </p:nvSpPr>
        <p:spPr>
          <a:xfrm>
            <a:off x="754049" y="261503"/>
            <a:ext cx="9601200" cy="1737360"/>
          </a:xfrm>
        </p:spPr>
        <p:txBody>
          <a:bodyPr vert="horz" lIns="91440" tIns="45720" rIns="91440" bIns="45720" rtlCol="0" anchor="t">
            <a:normAutofit/>
          </a:bodyPr>
          <a:lstStyle/>
          <a:p>
            <a:r>
              <a:rPr lang="en-US" b="1" kern="1200" dirty="0">
                <a:latin typeface="+mj-lt"/>
                <a:ea typeface="+mj-ea"/>
                <a:cs typeface="+mj-cs"/>
              </a:rPr>
              <a:t>Purchase order</a:t>
            </a:r>
          </a:p>
        </p:txBody>
      </p:sp>
      <p:sp>
        <p:nvSpPr>
          <p:cNvPr id="2" name="Slide Number Placeholder 1">
            <a:extLst>
              <a:ext uri="{FF2B5EF4-FFF2-40B4-BE49-F238E27FC236}">
                <a16:creationId xmlns:a16="http://schemas.microsoft.com/office/drawing/2014/main" id="{70A2CB9C-B264-82CA-EE8C-56EEE0F36422}"/>
              </a:ext>
            </a:extLst>
          </p:cNvPr>
          <p:cNvSpPr>
            <a:spLocks noGrp="1"/>
          </p:cNvSpPr>
          <p:nvPr>
            <p:ph type="sldNum" sz="quarter" idx="29"/>
          </p:nvPr>
        </p:nvSpPr>
        <p:spPr>
          <a:xfrm>
            <a:off x="11194169" y="6217920"/>
            <a:ext cx="458592" cy="365125"/>
          </a:xfrm>
        </p:spPr>
        <p:txBody>
          <a:bodyPr vert="horz" lIns="91440" tIns="45720" rIns="91440" bIns="45720" rtlCol="0" anchor="ctr">
            <a:normAutofit/>
          </a:bodyPr>
          <a:lstStyle/>
          <a:p>
            <a:pPr>
              <a:spcAft>
                <a:spcPts val="600"/>
              </a:spcAft>
            </a:pPr>
            <a:fld id="{47FEACEE-25B4-4A2D-B147-27296E36371D}" type="slidenum">
              <a:rPr lang="en-US" altLang="zh-CN" smtClean="0"/>
              <a:pPr>
                <a:spcAft>
                  <a:spcPts val="600"/>
                </a:spcAft>
              </a:pPr>
              <a:t>9</a:t>
            </a:fld>
            <a:endParaRPr lang="en-US" altLang="zh-CN"/>
          </a:p>
        </p:txBody>
      </p:sp>
      <p:pic>
        <p:nvPicPr>
          <p:cNvPr id="7" name="Content Placeholder 6">
            <a:extLst>
              <a:ext uri="{FF2B5EF4-FFF2-40B4-BE49-F238E27FC236}">
                <a16:creationId xmlns:a16="http://schemas.microsoft.com/office/drawing/2014/main" id="{12C1270D-090B-FA59-2F8D-469DEB9AD5A8}"/>
              </a:ext>
            </a:extLst>
          </p:cNvPr>
          <p:cNvPicPr>
            <a:picLocks noGrp="1" noChangeAspect="1"/>
          </p:cNvPicPr>
          <p:nvPr>
            <p:ph idx="30"/>
          </p:nvPr>
        </p:nvPicPr>
        <p:blipFill>
          <a:blip r:embed="rId3"/>
          <a:stretch>
            <a:fillRect/>
          </a:stretch>
        </p:blipFill>
        <p:spPr>
          <a:xfrm>
            <a:off x="865460" y="1379573"/>
            <a:ext cx="9286458" cy="4737065"/>
          </a:xfrm>
          <a:prstGeom prst="rect">
            <a:avLst/>
          </a:prstGeom>
        </p:spPr>
      </p:pic>
    </p:spTree>
    <p:extLst>
      <p:ext uri="{BB962C8B-B14F-4D97-AF65-F5344CB8AC3E}">
        <p14:creationId xmlns:p14="http://schemas.microsoft.com/office/powerpoint/2010/main" val="3575502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D947E-B5E5-ABE6-718C-7F2D7854BF0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4DBC73-F635-FE3C-8ECB-0061AFF72A62}"/>
              </a:ext>
            </a:extLst>
          </p:cNvPr>
          <p:cNvSpPr>
            <a:spLocks noGrp="1"/>
          </p:cNvSpPr>
          <p:nvPr>
            <p:ph type="title"/>
          </p:nvPr>
        </p:nvSpPr>
        <p:spPr>
          <a:xfrm>
            <a:off x="914400" y="731520"/>
            <a:ext cx="3931920" cy="2103120"/>
          </a:xfrm>
        </p:spPr>
        <p:txBody>
          <a:bodyPr anchor="b" anchorCtr="0"/>
          <a:lstStyle/>
          <a:p>
            <a:r>
              <a:rPr lang="en-US" dirty="0"/>
              <a:t>Inventory, non-inventory, and services</a:t>
            </a:r>
          </a:p>
        </p:txBody>
      </p:sp>
      <p:sp>
        <p:nvSpPr>
          <p:cNvPr id="20" name="Text Placeholder 19">
            <a:extLst>
              <a:ext uri="{FF2B5EF4-FFF2-40B4-BE49-F238E27FC236}">
                <a16:creationId xmlns:a16="http://schemas.microsoft.com/office/drawing/2014/main" id="{731334FE-DAB1-C6A6-4F01-1A5B92E4D146}"/>
              </a:ext>
            </a:extLst>
          </p:cNvPr>
          <p:cNvSpPr>
            <a:spLocks noGrp="1"/>
          </p:cNvSpPr>
          <p:nvPr>
            <p:ph idx="1"/>
          </p:nvPr>
        </p:nvSpPr>
        <p:spPr>
          <a:xfrm>
            <a:off x="914400" y="3108960"/>
            <a:ext cx="3931920" cy="2651760"/>
          </a:xfrm>
        </p:spPr>
        <p:txBody>
          <a:bodyPr>
            <a:normAutofit/>
          </a:bodyPr>
          <a:lstStyle/>
          <a:p>
            <a:pPr marL="0" indent="0">
              <a:buNone/>
            </a:pPr>
            <a:r>
              <a:rPr lang="en-US" dirty="0"/>
              <a:t>Inventory items are physical inventory units, whereas </a:t>
            </a:r>
          </a:p>
          <a:p>
            <a:pPr marL="0" indent="0">
              <a:buNone/>
            </a:pPr>
            <a:r>
              <a:rPr lang="en-US" dirty="0"/>
              <a:t>non-inventory items are physical units that aren't tracked in inventory.</a:t>
            </a:r>
          </a:p>
          <a:p>
            <a:pPr marL="0" indent="0">
              <a:buNone/>
            </a:pPr>
            <a:r>
              <a:rPr lang="en-US" dirty="0"/>
              <a:t>Items that are of the services type are used as labor time units</a:t>
            </a:r>
          </a:p>
        </p:txBody>
      </p:sp>
      <p:sp>
        <p:nvSpPr>
          <p:cNvPr id="9" name="Slide Number Placeholder 13">
            <a:extLst>
              <a:ext uri="{FF2B5EF4-FFF2-40B4-BE49-F238E27FC236}">
                <a16:creationId xmlns:a16="http://schemas.microsoft.com/office/drawing/2014/main" id="{5B1FBF4E-8355-F049-3A9C-71EC784090FD}"/>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0AA0D85-CFDD-5361-93BA-0B1A7ACF669C}"/>
              </a:ext>
            </a:extLst>
          </p:cNvPr>
          <p:cNvSpPr>
            <a:spLocks noGrp="1"/>
          </p:cNvSpPr>
          <p:nvPr>
            <p:ph type="sldNum" sz="quarter" idx="53"/>
          </p:nvPr>
        </p:nvSpPr>
        <p:spPr/>
        <p:txBody>
          <a:bodyPr/>
          <a:lstStyle/>
          <a:p>
            <a:fld id="{47FEACEE-25B4-4A2D-B147-27296E36371D}" type="slidenum">
              <a:rPr lang="en-US" altLang="zh-CN" noProof="0" smtClean="0"/>
              <a:pPr/>
              <a:t>10</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1A849F04-1A90-6C64-139E-4DF4355BC604}"/>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24A6C9FE-4784-0234-564B-1C22977324D0}"/>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2479052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9F6D2-CBB2-12C2-75A4-9D9EF3CF7027}"/>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F00CA96D-8D0D-0F28-A3B1-F5BBB1AADFC6}"/>
              </a:ext>
            </a:extLst>
          </p:cNvPr>
          <p:cNvSpPr>
            <a:spLocks noGrp="1"/>
          </p:cNvSpPr>
          <p:nvPr>
            <p:ph type="title"/>
          </p:nvPr>
        </p:nvSpPr>
        <p:spPr>
          <a:xfrm>
            <a:off x="1136108" y="219939"/>
            <a:ext cx="9601200" cy="1737360"/>
          </a:xfrm>
        </p:spPr>
        <p:txBody>
          <a:bodyPr vert="horz" lIns="91440" tIns="45720" rIns="91440" bIns="45720" rtlCol="0" anchor="t">
            <a:normAutofit/>
          </a:bodyPr>
          <a:lstStyle/>
          <a:p>
            <a:r>
              <a:rPr lang="en-US" b="1" kern="1200" dirty="0">
                <a:latin typeface="+mj-lt"/>
                <a:ea typeface="+mj-ea"/>
                <a:cs typeface="+mj-cs"/>
              </a:rPr>
              <a:t>Inventory or non-inventory or services</a:t>
            </a:r>
          </a:p>
        </p:txBody>
      </p:sp>
      <p:sp>
        <p:nvSpPr>
          <p:cNvPr id="2" name="Slide Number Placeholder 1">
            <a:extLst>
              <a:ext uri="{FF2B5EF4-FFF2-40B4-BE49-F238E27FC236}">
                <a16:creationId xmlns:a16="http://schemas.microsoft.com/office/drawing/2014/main" id="{60046F25-CD63-4F81-DF1C-4F4B4EB288F2}"/>
              </a:ext>
            </a:extLst>
          </p:cNvPr>
          <p:cNvSpPr>
            <a:spLocks noGrp="1"/>
          </p:cNvSpPr>
          <p:nvPr>
            <p:ph type="sldNum" sz="quarter" idx="29"/>
          </p:nvPr>
        </p:nvSpPr>
        <p:spPr>
          <a:xfrm>
            <a:off x="11194169" y="6217920"/>
            <a:ext cx="458592" cy="365125"/>
          </a:xfrm>
        </p:spPr>
        <p:txBody>
          <a:bodyPr vert="horz" lIns="91440" tIns="45720" rIns="91440" bIns="45720" rtlCol="0" anchor="ctr">
            <a:normAutofit/>
          </a:bodyPr>
          <a:lstStyle/>
          <a:p>
            <a:pPr>
              <a:spcAft>
                <a:spcPts val="600"/>
              </a:spcAft>
            </a:pPr>
            <a:fld id="{47FEACEE-25B4-4A2D-B147-27296E36371D}" type="slidenum">
              <a:rPr lang="en-US" altLang="zh-CN" smtClean="0"/>
              <a:pPr>
                <a:spcAft>
                  <a:spcPts val="600"/>
                </a:spcAft>
              </a:pPr>
              <a:t>11</a:t>
            </a:fld>
            <a:endParaRPr lang="en-US" altLang="zh-CN"/>
          </a:p>
        </p:txBody>
      </p:sp>
      <p:pic>
        <p:nvPicPr>
          <p:cNvPr id="6" name="Content Placeholder 5">
            <a:extLst>
              <a:ext uri="{FF2B5EF4-FFF2-40B4-BE49-F238E27FC236}">
                <a16:creationId xmlns:a16="http://schemas.microsoft.com/office/drawing/2014/main" id="{0074BC5E-6AEE-7C00-CE89-2D3F6074FC9F}"/>
              </a:ext>
            </a:extLst>
          </p:cNvPr>
          <p:cNvPicPr>
            <a:picLocks noGrp="1" noChangeAspect="1"/>
          </p:cNvPicPr>
          <p:nvPr>
            <p:ph idx="30"/>
          </p:nvPr>
        </p:nvPicPr>
        <p:blipFill>
          <a:blip r:embed="rId3"/>
          <a:stretch>
            <a:fillRect/>
          </a:stretch>
        </p:blipFill>
        <p:spPr>
          <a:xfrm>
            <a:off x="1136108" y="965504"/>
            <a:ext cx="8569001" cy="5252416"/>
          </a:xfrm>
          <a:prstGeom prst="rect">
            <a:avLst/>
          </a:prstGeom>
        </p:spPr>
      </p:pic>
    </p:spTree>
    <p:extLst>
      <p:ext uri="{BB962C8B-B14F-4D97-AF65-F5344CB8AC3E}">
        <p14:creationId xmlns:p14="http://schemas.microsoft.com/office/powerpoint/2010/main" val="192946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01E67-0898-304C-37FF-11986C3911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D14B340-0F3A-BBAE-CFEE-2A8B8AF37966}"/>
              </a:ext>
            </a:extLst>
          </p:cNvPr>
          <p:cNvSpPr>
            <a:spLocks noGrp="1"/>
          </p:cNvSpPr>
          <p:nvPr>
            <p:ph type="title"/>
          </p:nvPr>
        </p:nvSpPr>
        <p:spPr>
          <a:xfrm>
            <a:off x="914400" y="731520"/>
            <a:ext cx="3931920" cy="2103120"/>
          </a:xfrm>
        </p:spPr>
        <p:txBody>
          <a:bodyPr anchor="b" anchorCtr="0"/>
          <a:lstStyle/>
          <a:p>
            <a:r>
              <a:rPr lang="en-US" dirty="0"/>
              <a:t>Categories and attributes</a:t>
            </a:r>
          </a:p>
        </p:txBody>
      </p:sp>
      <p:sp>
        <p:nvSpPr>
          <p:cNvPr id="20" name="Text Placeholder 19">
            <a:extLst>
              <a:ext uri="{FF2B5EF4-FFF2-40B4-BE49-F238E27FC236}">
                <a16:creationId xmlns:a16="http://schemas.microsoft.com/office/drawing/2014/main" id="{2DBF2EAF-E340-297F-E900-E8733A53574F}"/>
              </a:ext>
            </a:extLst>
          </p:cNvPr>
          <p:cNvSpPr>
            <a:spLocks noGrp="1"/>
          </p:cNvSpPr>
          <p:nvPr>
            <p:ph idx="1"/>
          </p:nvPr>
        </p:nvSpPr>
        <p:spPr>
          <a:xfrm>
            <a:off x="914400" y="3108960"/>
            <a:ext cx="3931920" cy="2651760"/>
          </a:xfrm>
        </p:spPr>
        <p:txBody>
          <a:bodyPr>
            <a:normAutofit/>
          </a:bodyPr>
          <a:lstStyle/>
          <a:p>
            <a:pPr marL="0" indent="0">
              <a:buNone/>
            </a:pPr>
            <a:r>
              <a:rPr lang="en-US" dirty="0"/>
              <a:t>To increase your overview of items and to help you find them, you can categorize items and give them attributes to search and sort by.</a:t>
            </a:r>
          </a:p>
        </p:txBody>
      </p:sp>
      <p:sp>
        <p:nvSpPr>
          <p:cNvPr id="9" name="Slide Number Placeholder 13">
            <a:extLst>
              <a:ext uri="{FF2B5EF4-FFF2-40B4-BE49-F238E27FC236}">
                <a16:creationId xmlns:a16="http://schemas.microsoft.com/office/drawing/2014/main" id="{EA4C52CC-88C9-AE2A-1006-CECF69FB5CBA}"/>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4E814E4-E779-C9D9-6BC6-D9C9ED7C764C}"/>
              </a:ext>
            </a:extLst>
          </p:cNvPr>
          <p:cNvSpPr>
            <a:spLocks noGrp="1"/>
          </p:cNvSpPr>
          <p:nvPr>
            <p:ph type="sldNum" sz="quarter" idx="53"/>
          </p:nvPr>
        </p:nvSpPr>
        <p:spPr/>
        <p:txBody>
          <a:bodyPr/>
          <a:lstStyle/>
          <a:p>
            <a:fld id="{47FEACEE-25B4-4A2D-B147-27296E36371D}" type="slidenum">
              <a:rPr lang="en-US" altLang="zh-CN" noProof="0" smtClean="0"/>
              <a:pPr/>
              <a:t>12</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8330F497-1E7B-31E2-E76B-063C6D01B6DF}"/>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6D9CFDBF-0F72-AC45-F022-FBFDDC0082CC}"/>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3264764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30135-4444-5927-1500-FC62B7B73F3F}"/>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3921F542-5CC6-DDFE-A4C5-8025D48BEF6B}"/>
              </a:ext>
            </a:extLst>
          </p:cNvPr>
          <p:cNvSpPr>
            <a:spLocks noGrp="1"/>
          </p:cNvSpPr>
          <p:nvPr>
            <p:ph type="title"/>
          </p:nvPr>
        </p:nvSpPr>
        <p:spPr>
          <a:xfrm>
            <a:off x="750416" y="251111"/>
            <a:ext cx="9601200" cy="1737360"/>
          </a:xfrm>
        </p:spPr>
        <p:txBody>
          <a:bodyPr vert="horz" lIns="91440" tIns="45720" rIns="91440" bIns="45720" rtlCol="0" anchor="t">
            <a:normAutofit/>
          </a:bodyPr>
          <a:lstStyle/>
          <a:p>
            <a:r>
              <a:rPr lang="en-US" dirty="0"/>
              <a:t>Categories and attributes</a:t>
            </a:r>
            <a:endParaRPr lang="en-US" b="1" kern="1200" dirty="0">
              <a:latin typeface="+mj-lt"/>
              <a:ea typeface="+mj-ea"/>
              <a:cs typeface="+mj-cs"/>
            </a:endParaRPr>
          </a:p>
        </p:txBody>
      </p:sp>
      <p:sp>
        <p:nvSpPr>
          <p:cNvPr id="2" name="Slide Number Placeholder 1">
            <a:extLst>
              <a:ext uri="{FF2B5EF4-FFF2-40B4-BE49-F238E27FC236}">
                <a16:creationId xmlns:a16="http://schemas.microsoft.com/office/drawing/2014/main" id="{84BE899C-725C-43C6-C578-B2B66464D77A}"/>
              </a:ext>
            </a:extLst>
          </p:cNvPr>
          <p:cNvSpPr>
            <a:spLocks noGrp="1"/>
          </p:cNvSpPr>
          <p:nvPr>
            <p:ph type="sldNum" sz="quarter" idx="29"/>
          </p:nvPr>
        </p:nvSpPr>
        <p:spPr>
          <a:xfrm>
            <a:off x="11194169" y="6217920"/>
            <a:ext cx="458592" cy="365125"/>
          </a:xfrm>
        </p:spPr>
        <p:txBody>
          <a:bodyPr vert="horz" lIns="91440" tIns="45720" rIns="91440" bIns="45720" rtlCol="0" anchor="ctr">
            <a:normAutofit/>
          </a:bodyPr>
          <a:lstStyle/>
          <a:p>
            <a:pPr>
              <a:spcAft>
                <a:spcPts val="600"/>
              </a:spcAft>
            </a:pPr>
            <a:fld id="{47FEACEE-25B4-4A2D-B147-27296E36371D}" type="slidenum">
              <a:rPr lang="en-US" altLang="zh-CN" smtClean="0"/>
              <a:pPr>
                <a:spcAft>
                  <a:spcPts val="600"/>
                </a:spcAft>
              </a:pPr>
              <a:t>13</a:t>
            </a:fld>
            <a:endParaRPr lang="en-US" altLang="zh-CN"/>
          </a:p>
        </p:txBody>
      </p:sp>
      <p:pic>
        <p:nvPicPr>
          <p:cNvPr id="7" name="Content Placeholder 6">
            <a:extLst>
              <a:ext uri="{FF2B5EF4-FFF2-40B4-BE49-F238E27FC236}">
                <a16:creationId xmlns:a16="http://schemas.microsoft.com/office/drawing/2014/main" id="{FC9F49E4-90A6-539E-FE38-4FE88248A7BD}"/>
              </a:ext>
            </a:extLst>
          </p:cNvPr>
          <p:cNvPicPr>
            <a:picLocks noGrp="1" noChangeAspect="1"/>
          </p:cNvPicPr>
          <p:nvPr>
            <p:ph idx="30"/>
          </p:nvPr>
        </p:nvPicPr>
        <p:blipFill>
          <a:blip r:embed="rId3"/>
          <a:stretch>
            <a:fillRect/>
          </a:stretch>
        </p:blipFill>
        <p:spPr>
          <a:xfrm>
            <a:off x="750416" y="1358582"/>
            <a:ext cx="9385128" cy="4859338"/>
          </a:xfrm>
          <a:prstGeom prst="rect">
            <a:avLst/>
          </a:prstGeom>
        </p:spPr>
      </p:pic>
    </p:spTree>
    <p:extLst>
      <p:ext uri="{BB962C8B-B14F-4D97-AF65-F5344CB8AC3E}">
        <p14:creationId xmlns:p14="http://schemas.microsoft.com/office/powerpoint/2010/main" val="3339744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8417-1FF1-5813-36E8-52E3BE9E08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9C9511-21AC-7AD0-C615-A33C111C1AF4}"/>
              </a:ext>
            </a:extLst>
          </p:cNvPr>
          <p:cNvSpPr>
            <a:spLocks noGrp="1"/>
          </p:cNvSpPr>
          <p:nvPr>
            <p:ph type="title"/>
          </p:nvPr>
        </p:nvSpPr>
        <p:spPr>
          <a:xfrm>
            <a:off x="1143000" y="3200400"/>
            <a:ext cx="5029200" cy="2743200"/>
          </a:xfrm>
        </p:spPr>
        <p:txBody>
          <a:bodyPr lIns="0" anchor="t" anchorCtr="0"/>
          <a:lstStyle/>
          <a:p>
            <a:r>
              <a:rPr lang="en-US" dirty="0"/>
              <a:t>Actions</a:t>
            </a:r>
          </a:p>
        </p:txBody>
      </p:sp>
      <p:sp>
        <p:nvSpPr>
          <p:cNvPr id="3" name="Text Placeholder 2">
            <a:extLst>
              <a:ext uri="{FF2B5EF4-FFF2-40B4-BE49-F238E27FC236}">
                <a16:creationId xmlns:a16="http://schemas.microsoft.com/office/drawing/2014/main" id="{ADFE2F4B-7BD3-0460-4126-DB03DA7BEF32}"/>
              </a:ext>
            </a:extLst>
          </p:cNvPr>
          <p:cNvSpPr>
            <a:spLocks noGrp="1"/>
          </p:cNvSpPr>
          <p:nvPr>
            <p:ph type="body" sz="quarter" idx="28"/>
          </p:nvPr>
        </p:nvSpPr>
        <p:spPr>
          <a:xfrm>
            <a:off x="1261872" y="2240280"/>
            <a:ext cx="5029200" cy="760288"/>
          </a:xfrm>
        </p:spPr>
        <p:txBody>
          <a:bodyPr anchor="b" anchorCtr="0"/>
          <a:lstStyle/>
          <a:p>
            <a:r>
              <a:rPr lang="en-US" dirty="0"/>
              <a:t>Unlocking new horizons</a:t>
            </a:r>
          </a:p>
        </p:txBody>
      </p:sp>
      <p:pic>
        <p:nvPicPr>
          <p:cNvPr id="12" name="Picture Placeholder 11" descr="A person sitting at their deck and a person walking to their desk">
            <a:extLst>
              <a:ext uri="{FF2B5EF4-FFF2-40B4-BE49-F238E27FC236}">
                <a16:creationId xmlns:a16="http://schemas.microsoft.com/office/drawing/2014/main" id="{CFAB78A4-B86F-750F-CADD-1D64A286E220}"/>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2582017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A90D4-858D-35B3-66E2-7822B543CFB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13795E4-61C5-642F-44C1-529855BB95F2}"/>
              </a:ext>
            </a:extLst>
          </p:cNvPr>
          <p:cNvSpPr>
            <a:spLocks noGrp="1"/>
          </p:cNvSpPr>
          <p:nvPr>
            <p:ph type="title"/>
          </p:nvPr>
        </p:nvSpPr>
        <p:spPr>
          <a:xfrm>
            <a:off x="914400" y="731520"/>
            <a:ext cx="3931920" cy="2103120"/>
          </a:xfrm>
        </p:spPr>
        <p:txBody>
          <a:bodyPr anchor="b" anchorCtr="0"/>
          <a:lstStyle/>
          <a:p>
            <a:r>
              <a:rPr lang="en-US" dirty="0"/>
              <a:t>Special prices and discounts</a:t>
            </a:r>
          </a:p>
        </p:txBody>
      </p:sp>
      <p:sp>
        <p:nvSpPr>
          <p:cNvPr id="20" name="Text Placeholder 19">
            <a:extLst>
              <a:ext uri="{FF2B5EF4-FFF2-40B4-BE49-F238E27FC236}">
                <a16:creationId xmlns:a16="http://schemas.microsoft.com/office/drawing/2014/main" id="{9863E0D8-ED72-FA7A-1D8B-4B0B6E9E9CC2}"/>
              </a:ext>
            </a:extLst>
          </p:cNvPr>
          <p:cNvSpPr>
            <a:spLocks noGrp="1"/>
          </p:cNvSpPr>
          <p:nvPr>
            <p:ph idx="1"/>
          </p:nvPr>
        </p:nvSpPr>
        <p:spPr>
          <a:xfrm>
            <a:off x="914400" y="3108960"/>
            <a:ext cx="3931920" cy="2651760"/>
          </a:xfrm>
        </p:spPr>
        <p:txBody>
          <a:bodyPr>
            <a:normAutofit/>
          </a:bodyPr>
          <a:lstStyle/>
          <a:p>
            <a:pPr marL="0" indent="0">
              <a:buNone/>
            </a:pPr>
            <a:r>
              <a:rPr lang="en-US" dirty="0"/>
              <a:t>You can market to your customers and customer groups with special prices and discounts. Special prices and line discounts can depend on conditions, such as the minimum order quantity and the order date. The program automatically applies the best price</a:t>
            </a:r>
          </a:p>
        </p:txBody>
      </p:sp>
      <p:sp>
        <p:nvSpPr>
          <p:cNvPr id="9" name="Slide Number Placeholder 13">
            <a:extLst>
              <a:ext uri="{FF2B5EF4-FFF2-40B4-BE49-F238E27FC236}">
                <a16:creationId xmlns:a16="http://schemas.microsoft.com/office/drawing/2014/main" id="{20051A20-8043-0D68-8A46-A568C4935C1C}"/>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37281B1A-2C3E-05FA-4011-40E56038AA6A}"/>
              </a:ext>
            </a:extLst>
          </p:cNvPr>
          <p:cNvSpPr>
            <a:spLocks noGrp="1"/>
          </p:cNvSpPr>
          <p:nvPr>
            <p:ph type="sldNum" sz="quarter" idx="53"/>
          </p:nvPr>
        </p:nvSpPr>
        <p:spPr/>
        <p:txBody>
          <a:bodyPr/>
          <a:lstStyle/>
          <a:p>
            <a:fld id="{47FEACEE-25B4-4A2D-B147-27296E36371D}" type="slidenum">
              <a:rPr lang="en-US" altLang="zh-CN" noProof="0" smtClean="0"/>
              <a:pPr/>
              <a:t>15</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061B1DA1-DE56-8319-B393-3881B0FBC4EF}"/>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2168A085-49D1-4DC6-5DF6-80BA34D5C057}"/>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3116604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886B5-1CF1-76E6-5E73-443859D529B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5D288D2-8349-C489-EE3B-8F8D2C7DF505}"/>
              </a:ext>
            </a:extLst>
          </p:cNvPr>
          <p:cNvSpPr>
            <a:spLocks noGrp="1"/>
          </p:cNvSpPr>
          <p:nvPr>
            <p:ph type="title"/>
          </p:nvPr>
        </p:nvSpPr>
        <p:spPr>
          <a:xfrm>
            <a:off x="914400" y="731520"/>
            <a:ext cx="3931920" cy="2103120"/>
          </a:xfrm>
        </p:spPr>
        <p:txBody>
          <a:bodyPr anchor="b" anchorCtr="0"/>
          <a:lstStyle/>
          <a:p>
            <a:r>
              <a:rPr lang="en-US" dirty="0"/>
              <a:t>Item availability</a:t>
            </a:r>
          </a:p>
        </p:txBody>
      </p:sp>
      <p:sp>
        <p:nvSpPr>
          <p:cNvPr id="20" name="Text Placeholder 19">
            <a:extLst>
              <a:ext uri="{FF2B5EF4-FFF2-40B4-BE49-F238E27FC236}">
                <a16:creationId xmlns:a16="http://schemas.microsoft.com/office/drawing/2014/main" id="{24186529-E30D-B2E7-6D99-EC6BE3AB6F73}"/>
              </a:ext>
            </a:extLst>
          </p:cNvPr>
          <p:cNvSpPr>
            <a:spLocks noGrp="1"/>
          </p:cNvSpPr>
          <p:nvPr>
            <p:ph idx="1"/>
          </p:nvPr>
        </p:nvSpPr>
        <p:spPr>
          <a:xfrm>
            <a:off x="914400" y="3108960"/>
            <a:ext cx="3931920" cy="2651760"/>
          </a:xfrm>
        </p:spPr>
        <p:txBody>
          <a:bodyPr>
            <a:normAutofit/>
          </a:bodyPr>
          <a:lstStyle/>
          <a:p>
            <a:pPr marL="0" indent="0">
              <a:buNone/>
            </a:pPr>
            <a:r>
              <a:rPr lang="en-US" dirty="0"/>
              <a:t>Inventory increases and decreases are recorded when you post purchase and sales documents, respectively. You can also increase or decrease the quantity of an item in inventory by posting directly to the item ledger entries, for example, after a physical count or if you don't record purchases</a:t>
            </a:r>
          </a:p>
        </p:txBody>
      </p:sp>
      <p:sp>
        <p:nvSpPr>
          <p:cNvPr id="9" name="Slide Number Placeholder 13">
            <a:extLst>
              <a:ext uri="{FF2B5EF4-FFF2-40B4-BE49-F238E27FC236}">
                <a16:creationId xmlns:a16="http://schemas.microsoft.com/office/drawing/2014/main" id="{8C7C7FD4-5DDA-6949-2688-74E5B608DD33}"/>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187676C7-FB26-9D81-A97E-96365E8AFAC4}"/>
              </a:ext>
            </a:extLst>
          </p:cNvPr>
          <p:cNvSpPr>
            <a:spLocks noGrp="1"/>
          </p:cNvSpPr>
          <p:nvPr>
            <p:ph type="sldNum" sz="quarter" idx="53"/>
          </p:nvPr>
        </p:nvSpPr>
        <p:spPr/>
        <p:txBody>
          <a:bodyPr/>
          <a:lstStyle/>
          <a:p>
            <a:fld id="{47FEACEE-25B4-4A2D-B147-27296E36371D}" type="slidenum">
              <a:rPr lang="en-US" altLang="zh-CN" noProof="0" smtClean="0"/>
              <a:pPr/>
              <a:t>16</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304F8CA8-9511-5816-32B2-F2E2132A3E6A}"/>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B243E0A6-13AD-5A67-DE6C-65B93FD1DA26}"/>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4069407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26EB6-4538-E02A-43D1-E54DC821B4C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2E1E2AB-1783-65C6-ADD7-0E2309C6103C}"/>
              </a:ext>
            </a:extLst>
          </p:cNvPr>
          <p:cNvSpPr>
            <a:spLocks noGrp="1"/>
          </p:cNvSpPr>
          <p:nvPr>
            <p:ph type="title"/>
          </p:nvPr>
        </p:nvSpPr>
        <p:spPr>
          <a:xfrm>
            <a:off x="914400" y="731520"/>
            <a:ext cx="3931920" cy="2103120"/>
          </a:xfrm>
        </p:spPr>
        <p:txBody>
          <a:bodyPr anchor="b" anchorCtr="0"/>
          <a:lstStyle/>
          <a:p>
            <a:r>
              <a:rPr lang="en-US" dirty="0"/>
              <a:t>Catalog items</a:t>
            </a:r>
          </a:p>
        </p:txBody>
      </p:sp>
      <p:sp>
        <p:nvSpPr>
          <p:cNvPr id="20" name="Text Placeholder 19">
            <a:extLst>
              <a:ext uri="{FF2B5EF4-FFF2-40B4-BE49-F238E27FC236}">
                <a16:creationId xmlns:a16="http://schemas.microsoft.com/office/drawing/2014/main" id="{719A505F-E198-3386-3491-9C8E1AC48E71}"/>
              </a:ext>
            </a:extLst>
          </p:cNvPr>
          <p:cNvSpPr>
            <a:spLocks noGrp="1"/>
          </p:cNvSpPr>
          <p:nvPr>
            <p:ph idx="1"/>
          </p:nvPr>
        </p:nvSpPr>
        <p:spPr>
          <a:xfrm>
            <a:off x="914400" y="3108960"/>
            <a:ext cx="3931920" cy="2651760"/>
          </a:xfrm>
        </p:spPr>
        <p:txBody>
          <a:bodyPr>
            <a:normAutofit/>
          </a:bodyPr>
          <a:lstStyle/>
          <a:p>
            <a:pPr marL="0" indent="0">
              <a:buNone/>
            </a:pPr>
            <a:r>
              <a:rPr lang="en-US" dirty="0"/>
              <a:t>You can set up and use items that you don't maintain in inventory to your customers. You can register these items that you don't want to manage in your system until you start selling them as catalog item</a:t>
            </a:r>
          </a:p>
        </p:txBody>
      </p:sp>
      <p:sp>
        <p:nvSpPr>
          <p:cNvPr id="9" name="Slide Number Placeholder 13">
            <a:extLst>
              <a:ext uri="{FF2B5EF4-FFF2-40B4-BE49-F238E27FC236}">
                <a16:creationId xmlns:a16="http://schemas.microsoft.com/office/drawing/2014/main" id="{A64F4449-33A3-F823-4857-3F8FF0B55B21}"/>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11800796-6328-24E2-1C45-E5CBB0AA805F}"/>
              </a:ext>
            </a:extLst>
          </p:cNvPr>
          <p:cNvSpPr>
            <a:spLocks noGrp="1"/>
          </p:cNvSpPr>
          <p:nvPr>
            <p:ph type="sldNum" sz="quarter" idx="53"/>
          </p:nvPr>
        </p:nvSpPr>
        <p:spPr/>
        <p:txBody>
          <a:bodyPr/>
          <a:lstStyle/>
          <a:p>
            <a:fld id="{47FEACEE-25B4-4A2D-B147-27296E36371D}" type="slidenum">
              <a:rPr lang="en-US" altLang="zh-CN" noProof="0" smtClean="0"/>
              <a:pPr/>
              <a:t>17</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D92E2897-0C09-BC1A-6289-249DC4F2195F}"/>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9DE80669-4B26-0E17-C041-A54F9CAE0C56}"/>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4225557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152F6-D79B-C736-609A-FAB0FEE3DA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3264BED-1C19-0E7E-6E85-FF439B17DCFA}"/>
              </a:ext>
            </a:extLst>
          </p:cNvPr>
          <p:cNvSpPr>
            <a:spLocks noGrp="1"/>
          </p:cNvSpPr>
          <p:nvPr>
            <p:ph type="title"/>
          </p:nvPr>
        </p:nvSpPr>
        <p:spPr>
          <a:xfrm>
            <a:off x="914400" y="731520"/>
            <a:ext cx="3931920" cy="2103120"/>
          </a:xfrm>
        </p:spPr>
        <p:txBody>
          <a:bodyPr anchor="b" anchorCtr="0"/>
          <a:lstStyle/>
          <a:p>
            <a:r>
              <a:rPr lang="en-US" dirty="0"/>
              <a:t>Item substitutions</a:t>
            </a:r>
          </a:p>
        </p:txBody>
      </p:sp>
      <p:sp>
        <p:nvSpPr>
          <p:cNvPr id="20" name="Text Placeholder 19">
            <a:extLst>
              <a:ext uri="{FF2B5EF4-FFF2-40B4-BE49-F238E27FC236}">
                <a16:creationId xmlns:a16="http://schemas.microsoft.com/office/drawing/2014/main" id="{6F314E6D-9089-B4D4-C26A-0D8E82735B07}"/>
              </a:ext>
            </a:extLst>
          </p:cNvPr>
          <p:cNvSpPr>
            <a:spLocks noGrp="1"/>
          </p:cNvSpPr>
          <p:nvPr>
            <p:ph idx="1"/>
          </p:nvPr>
        </p:nvSpPr>
        <p:spPr>
          <a:xfrm>
            <a:off x="914400" y="3108960"/>
            <a:ext cx="3931920" cy="2651760"/>
          </a:xfrm>
        </p:spPr>
        <p:txBody>
          <a:bodyPr>
            <a:normAutofit/>
          </a:bodyPr>
          <a:lstStyle/>
          <a:p>
            <a:pPr marL="0" indent="0">
              <a:buNone/>
            </a:pPr>
            <a:r>
              <a:rPr lang="en-US" dirty="0"/>
              <a:t>Business Central allows you to offer substitute items when requested items are unavailable. By setting up item substitutions, you can link similar items. When the program notifies you that an item that a customer has requested is out of stock, you can view the substitute items and select one that you have in stock</a:t>
            </a:r>
          </a:p>
        </p:txBody>
      </p:sp>
      <p:sp>
        <p:nvSpPr>
          <p:cNvPr id="9" name="Slide Number Placeholder 13">
            <a:extLst>
              <a:ext uri="{FF2B5EF4-FFF2-40B4-BE49-F238E27FC236}">
                <a16:creationId xmlns:a16="http://schemas.microsoft.com/office/drawing/2014/main" id="{4E727ABD-FD7F-6300-6C30-D52B983D926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5D020FEA-9160-13C6-0BAB-C6B5EB82BC4B}"/>
              </a:ext>
            </a:extLst>
          </p:cNvPr>
          <p:cNvSpPr>
            <a:spLocks noGrp="1"/>
          </p:cNvSpPr>
          <p:nvPr>
            <p:ph type="sldNum" sz="quarter" idx="53"/>
          </p:nvPr>
        </p:nvSpPr>
        <p:spPr/>
        <p:txBody>
          <a:bodyPr/>
          <a:lstStyle/>
          <a:p>
            <a:fld id="{47FEACEE-25B4-4A2D-B147-27296E36371D}" type="slidenum">
              <a:rPr lang="en-US" altLang="zh-CN" noProof="0" smtClean="0"/>
              <a:pPr/>
              <a:t>18</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1B5F655C-462B-26E3-B17D-25ECC078A7F8}"/>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D1833FC2-35B6-E5FA-1D58-803B3D95CF09}"/>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248660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00AAA-B144-1C9C-8C50-637B4D18006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34873A5-542C-0FED-0DD4-6B4213FC14CA}"/>
              </a:ext>
            </a:extLst>
          </p:cNvPr>
          <p:cNvSpPr>
            <a:spLocks noGrp="1"/>
          </p:cNvSpPr>
          <p:nvPr>
            <p:ph type="title"/>
          </p:nvPr>
        </p:nvSpPr>
        <p:spPr>
          <a:xfrm>
            <a:off x="914400" y="731520"/>
            <a:ext cx="3931920" cy="2103120"/>
          </a:xfrm>
        </p:spPr>
        <p:txBody>
          <a:bodyPr anchor="b" anchorCtr="0"/>
          <a:lstStyle/>
          <a:p>
            <a:r>
              <a:rPr lang="en-US" dirty="0"/>
              <a:t>Locations</a:t>
            </a:r>
          </a:p>
        </p:txBody>
      </p:sp>
      <p:sp>
        <p:nvSpPr>
          <p:cNvPr id="20" name="Text Placeholder 19">
            <a:extLst>
              <a:ext uri="{FF2B5EF4-FFF2-40B4-BE49-F238E27FC236}">
                <a16:creationId xmlns:a16="http://schemas.microsoft.com/office/drawing/2014/main" id="{EE481182-E8EE-7F55-7AC0-F939AD7014CB}"/>
              </a:ext>
            </a:extLst>
          </p:cNvPr>
          <p:cNvSpPr>
            <a:spLocks noGrp="1"/>
          </p:cNvSpPr>
          <p:nvPr>
            <p:ph idx="1"/>
          </p:nvPr>
        </p:nvSpPr>
        <p:spPr>
          <a:xfrm>
            <a:off x="914400" y="3108960"/>
            <a:ext cx="3931920" cy="2651760"/>
          </a:xfrm>
        </p:spPr>
        <p:txBody>
          <a:bodyPr>
            <a:normAutofit/>
          </a:bodyPr>
          <a:lstStyle/>
          <a:p>
            <a:pPr marL="0" indent="0">
              <a:buNone/>
            </a:pPr>
            <a:r>
              <a:rPr lang="en-US" dirty="0"/>
              <a:t>You can manage inventory in multiple locations that might represent a production plant, distribution center, warehouse, showroom, retail outlet, or service car.</a:t>
            </a:r>
          </a:p>
        </p:txBody>
      </p:sp>
      <p:sp>
        <p:nvSpPr>
          <p:cNvPr id="9" name="Slide Number Placeholder 13">
            <a:extLst>
              <a:ext uri="{FF2B5EF4-FFF2-40B4-BE49-F238E27FC236}">
                <a16:creationId xmlns:a16="http://schemas.microsoft.com/office/drawing/2014/main" id="{7ECC0CDB-00FD-3989-88E1-80F513766F9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7107FF0-7922-82B6-E522-DC1B7E869C33}"/>
              </a:ext>
            </a:extLst>
          </p:cNvPr>
          <p:cNvSpPr>
            <a:spLocks noGrp="1"/>
          </p:cNvSpPr>
          <p:nvPr>
            <p:ph type="sldNum" sz="quarter" idx="53"/>
          </p:nvPr>
        </p:nvSpPr>
        <p:spPr/>
        <p:txBody>
          <a:bodyPr/>
          <a:lstStyle/>
          <a:p>
            <a:fld id="{47FEACEE-25B4-4A2D-B147-27296E36371D}" type="slidenum">
              <a:rPr lang="en-US" altLang="zh-CN" noProof="0" smtClean="0"/>
              <a:pPr/>
              <a:t>19</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8CFC16E1-28E1-D882-0AF8-48818130DB52}"/>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715710C5-AAD2-7C5E-3E55-EA1BC36D5665}"/>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2889995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A05AF-DAEA-C775-EB6B-67B59291AC5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75CBC4A-4EA7-E95C-129C-1E9574D3F527}"/>
              </a:ext>
            </a:extLst>
          </p:cNvPr>
          <p:cNvSpPr>
            <a:spLocks noGrp="1"/>
          </p:cNvSpPr>
          <p:nvPr>
            <p:ph type="title"/>
          </p:nvPr>
        </p:nvSpPr>
        <p:spPr>
          <a:xfrm>
            <a:off x="914400" y="731520"/>
            <a:ext cx="3931920" cy="2103120"/>
          </a:xfrm>
        </p:spPr>
        <p:txBody>
          <a:bodyPr anchor="b" anchorCtr="0"/>
          <a:lstStyle/>
          <a:p>
            <a:r>
              <a:rPr lang="en-US" dirty="0"/>
              <a:t>Item transfers</a:t>
            </a:r>
          </a:p>
        </p:txBody>
      </p:sp>
      <p:sp>
        <p:nvSpPr>
          <p:cNvPr id="20" name="Text Placeholder 19">
            <a:extLst>
              <a:ext uri="{FF2B5EF4-FFF2-40B4-BE49-F238E27FC236}">
                <a16:creationId xmlns:a16="http://schemas.microsoft.com/office/drawing/2014/main" id="{3564C0FF-0BEC-B72F-EBCC-11D10DAC8D7E}"/>
              </a:ext>
            </a:extLst>
          </p:cNvPr>
          <p:cNvSpPr>
            <a:spLocks noGrp="1"/>
          </p:cNvSpPr>
          <p:nvPr>
            <p:ph idx="1"/>
          </p:nvPr>
        </p:nvSpPr>
        <p:spPr>
          <a:xfrm>
            <a:off x="914400" y="3108960"/>
            <a:ext cx="3931920" cy="2651760"/>
          </a:xfrm>
        </p:spPr>
        <p:txBody>
          <a:bodyPr>
            <a:normAutofit/>
          </a:bodyPr>
          <a:lstStyle/>
          <a:p>
            <a:pPr marL="0" indent="0">
              <a:buNone/>
            </a:pPr>
            <a:r>
              <a:rPr lang="en-US" dirty="0"/>
              <a:t>With transfer orders, you can transfer items from one location to another. When transfers take more than one day, you can use in-transit locations that hold items in transfer. With direct transfers, you can transfer items without using in-transit locations. This is useful when transfer shipments and transfer receipts are processed at the same day</a:t>
            </a:r>
          </a:p>
        </p:txBody>
      </p:sp>
      <p:sp>
        <p:nvSpPr>
          <p:cNvPr id="9" name="Slide Number Placeholder 13">
            <a:extLst>
              <a:ext uri="{FF2B5EF4-FFF2-40B4-BE49-F238E27FC236}">
                <a16:creationId xmlns:a16="http://schemas.microsoft.com/office/drawing/2014/main" id="{571CA437-165A-3E18-B727-32250C9282C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E4B5FCD4-3820-CC3E-49C1-218A71255800}"/>
              </a:ext>
            </a:extLst>
          </p:cNvPr>
          <p:cNvSpPr>
            <a:spLocks noGrp="1"/>
          </p:cNvSpPr>
          <p:nvPr>
            <p:ph type="sldNum" sz="quarter" idx="53"/>
          </p:nvPr>
        </p:nvSpPr>
        <p:spPr/>
        <p:txBody>
          <a:bodyPr/>
          <a:lstStyle/>
          <a:p>
            <a:fld id="{47FEACEE-25B4-4A2D-B147-27296E36371D}" type="slidenum">
              <a:rPr lang="en-US" altLang="zh-CN" noProof="0" smtClean="0"/>
              <a:pPr/>
              <a:t>20</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C5FCC6FE-59AF-6516-E459-6CF2C26FBF5E}"/>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C0650700-52B8-68AE-B63B-324D28DFD00C}"/>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1795483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62DA2-7C88-9F4A-F7FE-C6409DF1E3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5C4719-3963-1DF1-44B9-88457D5EA3CA}"/>
              </a:ext>
            </a:extLst>
          </p:cNvPr>
          <p:cNvSpPr>
            <a:spLocks noGrp="1"/>
          </p:cNvSpPr>
          <p:nvPr>
            <p:ph type="title"/>
          </p:nvPr>
        </p:nvSpPr>
        <p:spPr>
          <a:xfrm>
            <a:off x="914400" y="731520"/>
            <a:ext cx="3931920" cy="2103120"/>
          </a:xfrm>
        </p:spPr>
        <p:txBody>
          <a:bodyPr anchor="b" anchorCtr="0"/>
          <a:lstStyle/>
          <a:p>
            <a:r>
              <a:rPr lang="en-US" dirty="0"/>
              <a:t>Sales and inventory forecasting</a:t>
            </a:r>
          </a:p>
        </p:txBody>
      </p:sp>
      <p:sp>
        <p:nvSpPr>
          <p:cNvPr id="20" name="Text Placeholder 19">
            <a:extLst>
              <a:ext uri="{FF2B5EF4-FFF2-40B4-BE49-F238E27FC236}">
                <a16:creationId xmlns:a16="http://schemas.microsoft.com/office/drawing/2014/main" id="{9D6F959A-AF22-11A5-2F77-96986C2A7907}"/>
              </a:ext>
            </a:extLst>
          </p:cNvPr>
          <p:cNvSpPr>
            <a:spLocks noGrp="1"/>
          </p:cNvSpPr>
          <p:nvPr>
            <p:ph idx="1"/>
          </p:nvPr>
        </p:nvSpPr>
        <p:spPr>
          <a:xfrm>
            <a:off x="914400" y="3108960"/>
            <a:ext cx="3931920" cy="2651760"/>
          </a:xfrm>
        </p:spPr>
        <p:txBody>
          <a:bodyPr>
            <a:normAutofit/>
          </a:bodyPr>
          <a:lstStyle/>
          <a:p>
            <a:pPr marL="0" indent="0">
              <a:buNone/>
            </a:pPr>
            <a:r>
              <a:rPr lang="en-US" dirty="0"/>
              <a:t>The sales and inventory forecast produces, with machine learning technology, a predictive analysis of future sales and inventory levels. By setting period type and origin, you can specify the historical data that the program uses</a:t>
            </a:r>
          </a:p>
        </p:txBody>
      </p:sp>
      <p:sp>
        <p:nvSpPr>
          <p:cNvPr id="9" name="Slide Number Placeholder 13">
            <a:extLst>
              <a:ext uri="{FF2B5EF4-FFF2-40B4-BE49-F238E27FC236}">
                <a16:creationId xmlns:a16="http://schemas.microsoft.com/office/drawing/2014/main" id="{19646993-C6AC-0212-A841-742A2EDF33B0}"/>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6C770584-31EE-A523-CFD9-7DABA35018A1}"/>
              </a:ext>
            </a:extLst>
          </p:cNvPr>
          <p:cNvSpPr>
            <a:spLocks noGrp="1"/>
          </p:cNvSpPr>
          <p:nvPr>
            <p:ph type="sldNum" sz="quarter" idx="53"/>
          </p:nvPr>
        </p:nvSpPr>
        <p:spPr/>
        <p:txBody>
          <a:bodyPr/>
          <a:lstStyle/>
          <a:p>
            <a:fld id="{47FEACEE-25B4-4A2D-B147-27296E36371D}" type="slidenum">
              <a:rPr lang="en-US" altLang="zh-CN" noProof="0" smtClean="0"/>
              <a:pPr/>
              <a:t>21</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C4F4A7C7-CA00-834B-9CAC-DE76D7F3288D}"/>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97D1D6EC-589C-1C61-D537-420E54A50748}"/>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10274903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Oleksandr Fishchuk</a:t>
            </a:r>
          </a:p>
          <a:p>
            <a:pPr lvl="0"/>
            <a:r>
              <a:rPr lang="en-US" dirty="0"/>
              <a:t>ofishchuk@goldenpath-software.pl</a:t>
            </a:r>
          </a:p>
          <a:p>
            <a:pPr lvl="0"/>
            <a:r>
              <a:rPr lang="en-US" dirty="0"/>
              <a:t>www.goldenpath-software.pl</a:t>
            </a:r>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3.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{BE99236D-1AF8-4D1D-A489-9A37D2A989FD}TF63aebcec-8e39-4664-940a-dd6c2f00c54d020a9832_win32-3cdd3ee32610</Template>
  <TotalTime>824</TotalTime>
  <Words>603</Words>
  <Application>Microsoft Office PowerPoint</Application>
  <PresentationFormat>Widescreen</PresentationFormat>
  <Paragraphs>97</Paragraphs>
  <Slides>22</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等线</vt:lpstr>
      <vt:lpstr>Abadi</vt:lpstr>
      <vt:lpstr>Arial</vt:lpstr>
      <vt:lpstr>Calibri</vt:lpstr>
      <vt:lpstr>Posterama</vt:lpstr>
      <vt:lpstr>Posterama Text SemiBold</vt:lpstr>
      <vt:lpstr>Custom</vt:lpstr>
      <vt:lpstr>MS Dynamics365 Supply chain management</vt:lpstr>
      <vt:lpstr>Agenda </vt:lpstr>
      <vt:lpstr>Introduction to Dynamics365 Supply chain management</vt:lpstr>
      <vt:lpstr>Dynamics365 Supply chain management  </vt:lpstr>
      <vt:lpstr>Documents</vt:lpstr>
      <vt:lpstr>Sales orders</vt:lpstr>
      <vt:lpstr>Sales order</vt:lpstr>
      <vt:lpstr>Purchase orders</vt:lpstr>
      <vt:lpstr>Purchase order</vt:lpstr>
      <vt:lpstr>Inventory, non-inventory, and services</vt:lpstr>
      <vt:lpstr>Inventory or non-inventory or services</vt:lpstr>
      <vt:lpstr>Categories and attributes</vt:lpstr>
      <vt:lpstr>Categories and attributes</vt:lpstr>
      <vt:lpstr>Actions</vt:lpstr>
      <vt:lpstr>Special prices and discounts</vt:lpstr>
      <vt:lpstr>Item availability</vt:lpstr>
      <vt:lpstr>Catalog items</vt:lpstr>
      <vt:lpstr>Item substitutions</vt:lpstr>
      <vt:lpstr>Locations</vt:lpstr>
      <vt:lpstr>Item transfers</vt:lpstr>
      <vt:lpstr>Sales and inventory forecasting</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Oleksandr Fishchuk</dc:creator>
  <cp:lastModifiedBy>Oleksandr Fishchuk</cp:lastModifiedBy>
  <cp:revision>4</cp:revision>
  <dcterms:created xsi:type="dcterms:W3CDTF">2026-05-18T13:07:38Z</dcterms:created>
  <dcterms:modified xsi:type="dcterms:W3CDTF">2026-05-27T13:02:34Z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