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2" r:id="rId5"/>
    <p:sldId id="299" r:id="rId6"/>
    <p:sldId id="297" r:id="rId7"/>
    <p:sldId id="261" r:id="rId8"/>
    <p:sldId id="298" r:id="rId9"/>
    <p:sldId id="276" r:id="rId10"/>
    <p:sldId id="308" r:id="rId11"/>
    <p:sldId id="309" r:id="rId12"/>
    <p:sldId id="306" r:id="rId13"/>
    <p:sldId id="307" r:id="rId14"/>
    <p:sldId id="293" r:id="rId15"/>
    <p:sldId id="310" r:id="rId16"/>
    <p:sldId id="28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5/27/2026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5/27/2026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B3B82-32CD-CEF5-5ADC-3D6AAED37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0E275-9D2A-8E8B-F49F-B32556F34150}"/>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6933233-E278-BBFB-40EC-ED942C1D73C6}"/>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DA5AA90-BCF1-02C6-741E-D2F841BE0D5D}"/>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36560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C74F4-B7DE-A2FE-09FD-DD091A6E3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221DD-D050-4518-4FB5-9969E2E652A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A317915-DEF6-E5AA-9F8C-504644C93C8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8FB307F-F5DA-5A9E-DC6F-48F3E9DCF02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3809756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40A04-CF6F-BF24-C253-52E02DF37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0CF5FE-F643-14DD-0E12-5B55570D993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D0F8489-0EB6-297D-C3BC-E7BAEA9028EF}"/>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57A8866A-7C9A-6DBD-4806-761B57CD361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4146888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056A6-958B-2106-3C37-93449AA08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2085A-5F01-F0DB-429C-5EF988F74215}"/>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E86BF15-CB5C-BCF8-F558-6D11C1198B95}"/>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7ADC40A-C325-09DC-004C-CC715CD1052E}"/>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2011109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482650" cy="3291840"/>
          </a:xfrm>
        </p:spPr>
        <p:txBody>
          <a:bodyPr lIns="0" anchor="b" anchorCtr="0"/>
          <a:lstStyle/>
          <a:p>
            <a:r>
              <a:rPr lang="en-US" altLang="zh-CN" dirty="0"/>
              <a:t>MS Dynamics 365 </a:t>
            </a:r>
            <a:br>
              <a:rPr lang="en-US" altLang="zh-CN" dirty="0"/>
            </a:br>
            <a:r>
              <a:rPr lang="en-US" altLang="zh-CN" dirty="0"/>
              <a:t>Project management</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err="1"/>
              <a:t>goldenpath</a:t>
            </a:r>
            <a:r>
              <a:rPr lang="en-US" dirty="0"/>
              <a:t>-software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MS Dynamics365 Project management</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Project management</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The </a:t>
            </a:r>
            <a:r>
              <a:rPr lang="en-US" b="1" dirty="0"/>
              <a:t>Projects</a:t>
            </a:r>
            <a:r>
              <a:rPr lang="en-US" dirty="0"/>
              <a:t> functionality helps you keep track of usage on projects and provides data for invoicing the customer.</a:t>
            </a:r>
          </a:p>
          <a:p>
            <a:r>
              <a:rPr lang="en-US" dirty="0"/>
              <a:t> You can manage both fixed-price projects and time-and-materials projects</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Projects functionality</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Projects</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a:bodyPr>
          <a:lstStyle/>
          <a:p>
            <a:pPr marL="0" indent="0">
              <a:buNone/>
            </a:pPr>
            <a:r>
              <a:rPr lang="en-US" dirty="0"/>
              <a:t>With the </a:t>
            </a:r>
            <a:r>
              <a:rPr lang="en-US" b="1" dirty="0"/>
              <a:t>Projects</a:t>
            </a:r>
            <a:r>
              <a:rPr lang="en-US" dirty="0"/>
              <a:t> functionality, you can manage long-term projects that involve the use of employee labor hours, machine hours, inventory items, and other types of usage that you want to keep track of. Using the </a:t>
            </a:r>
            <a:r>
              <a:rPr lang="en-US" b="1" dirty="0"/>
              <a:t>Projects</a:t>
            </a:r>
            <a:r>
              <a:rPr lang="en-US" dirty="0"/>
              <a:t> functionality provides a good overview of not only individual projects, but also the allocation</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B23D6-0AC9-5956-B145-87ECED6C9E5E}"/>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050699C6-76AD-3987-EA31-A708F0A90DEB}"/>
              </a:ext>
            </a:extLst>
          </p:cNvPr>
          <p:cNvSpPr>
            <a:spLocks noGrp="1"/>
          </p:cNvSpPr>
          <p:nvPr>
            <p:ph type="title"/>
          </p:nvPr>
        </p:nvSpPr>
        <p:spPr>
          <a:xfrm>
            <a:off x="896065" y="194753"/>
            <a:ext cx="10527400" cy="1036517"/>
          </a:xfrm>
        </p:spPr>
        <p:txBody>
          <a:bodyPr/>
          <a:lstStyle/>
          <a:p>
            <a:r>
              <a:rPr lang="en-US" dirty="0"/>
              <a:t>Project functionality</a:t>
            </a:r>
          </a:p>
        </p:txBody>
      </p:sp>
      <p:sp>
        <p:nvSpPr>
          <p:cNvPr id="43" name="Text Placeholder 42">
            <a:extLst>
              <a:ext uri="{FF2B5EF4-FFF2-40B4-BE49-F238E27FC236}">
                <a16:creationId xmlns:a16="http://schemas.microsoft.com/office/drawing/2014/main" id="{3CF2AF0C-875D-F6D2-DE32-C44A598909B0}"/>
              </a:ext>
            </a:extLst>
          </p:cNvPr>
          <p:cNvSpPr>
            <a:spLocks noGrp="1"/>
          </p:cNvSpPr>
          <p:nvPr>
            <p:ph idx="1"/>
          </p:nvPr>
        </p:nvSpPr>
        <p:spPr>
          <a:xfrm>
            <a:off x="896065" y="1393315"/>
            <a:ext cx="8621561" cy="819814"/>
          </a:xfrm>
        </p:spPr>
        <p:txBody>
          <a:bodyPr>
            <a:normAutofit/>
          </a:bodyPr>
          <a:lstStyle/>
          <a:p>
            <a:r>
              <a:rPr lang="en-US" dirty="0"/>
              <a:t>On the project card, you can enter all the data that you need to manage the project from an administrative and financial point of view</a:t>
            </a:r>
          </a:p>
        </p:txBody>
      </p:sp>
      <p:sp>
        <p:nvSpPr>
          <p:cNvPr id="11" name="Slide Number Placeholder 13">
            <a:extLst>
              <a:ext uri="{FF2B5EF4-FFF2-40B4-BE49-F238E27FC236}">
                <a16:creationId xmlns:a16="http://schemas.microsoft.com/office/drawing/2014/main" id="{C66614A3-1CD7-4EA4-F3B9-F8F2ADFF007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58DFF57-E3A7-31F5-27A4-A200D1EC3334}"/>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pic>
        <p:nvPicPr>
          <p:cNvPr id="7" name="Content Placeholder 6">
            <a:extLst>
              <a:ext uri="{FF2B5EF4-FFF2-40B4-BE49-F238E27FC236}">
                <a16:creationId xmlns:a16="http://schemas.microsoft.com/office/drawing/2014/main" id="{6975D507-E72F-6F82-E9FC-40A533E46EAA}"/>
              </a:ext>
            </a:extLst>
          </p:cNvPr>
          <p:cNvPicPr>
            <a:picLocks noGrp="1" noChangeAspect="1"/>
          </p:cNvPicPr>
          <p:nvPr>
            <p:ph idx="56"/>
          </p:nvPr>
        </p:nvPicPr>
        <p:blipFill>
          <a:blip r:embed="rId3"/>
          <a:stretch>
            <a:fillRect/>
          </a:stretch>
        </p:blipFill>
        <p:spPr>
          <a:xfrm>
            <a:off x="994387" y="2213129"/>
            <a:ext cx="7150973" cy="4347236"/>
          </a:xfrm>
          <a:prstGeom prst="rect">
            <a:avLst/>
          </a:prstGeom>
        </p:spPr>
      </p:pic>
      <p:sp>
        <p:nvSpPr>
          <p:cNvPr id="9" name="TextBox 8">
            <a:extLst>
              <a:ext uri="{FF2B5EF4-FFF2-40B4-BE49-F238E27FC236}">
                <a16:creationId xmlns:a16="http://schemas.microsoft.com/office/drawing/2014/main" id="{BBE2D161-0329-38D5-29F0-4EBB7FA19396}"/>
              </a:ext>
            </a:extLst>
          </p:cNvPr>
          <p:cNvSpPr txBox="1"/>
          <p:nvPr/>
        </p:nvSpPr>
        <p:spPr>
          <a:xfrm>
            <a:off x="3055374" y="2831294"/>
            <a:ext cx="6110748" cy="1200329"/>
          </a:xfrm>
          <a:prstGeom prst="rect">
            <a:avLst/>
          </a:prstGeom>
          <a:noFill/>
        </p:spPr>
        <p:txBody>
          <a:bodyPr wrap="square">
            <a:spAutoFit/>
          </a:bodyPr>
          <a:lstStyle/>
          <a:p>
            <a:r>
              <a:rPr lang="en-US" b="0" i="0" dirty="0">
                <a:solidFill>
                  <a:srgbClr val="FFFFFF"/>
                </a:solidFill>
                <a:effectLst/>
                <a:latin typeface="Segoe UI" panose="020B0502040204020203" pitchFamily="34" charset="0"/>
              </a:rPr>
              <a:t>By entering tasks for your project, you can specify everything that must be done to complete the job. For each task, you can plan capacity and sales for resources and items.</a:t>
            </a:r>
            <a:endParaRPr lang="en-US" dirty="0"/>
          </a:p>
        </p:txBody>
      </p:sp>
    </p:spTree>
    <p:extLst>
      <p:ext uri="{BB962C8B-B14F-4D97-AF65-F5344CB8AC3E}">
        <p14:creationId xmlns:p14="http://schemas.microsoft.com/office/powerpoint/2010/main" val="1471473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EF217-F743-9160-5BE4-1CE491F0F2AC}"/>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56E0476C-2BB8-440A-5E0D-DE2EC63469E9}"/>
              </a:ext>
            </a:extLst>
          </p:cNvPr>
          <p:cNvSpPr>
            <a:spLocks noGrp="1"/>
          </p:cNvSpPr>
          <p:nvPr>
            <p:ph type="title"/>
          </p:nvPr>
        </p:nvSpPr>
        <p:spPr>
          <a:xfrm>
            <a:off x="896065" y="194753"/>
            <a:ext cx="10527400" cy="1036517"/>
          </a:xfrm>
        </p:spPr>
        <p:txBody>
          <a:bodyPr/>
          <a:lstStyle/>
          <a:p>
            <a:r>
              <a:rPr lang="en-US" dirty="0"/>
              <a:t>Project functionality</a:t>
            </a:r>
          </a:p>
        </p:txBody>
      </p:sp>
      <p:sp>
        <p:nvSpPr>
          <p:cNvPr id="11" name="Slide Number Placeholder 13">
            <a:extLst>
              <a:ext uri="{FF2B5EF4-FFF2-40B4-BE49-F238E27FC236}">
                <a16:creationId xmlns:a16="http://schemas.microsoft.com/office/drawing/2014/main" id="{95AC6F7B-459A-67B4-FDDF-208544AB0E1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9C6C18ED-3FA5-3D8C-FF49-1B8228BFB320}"/>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
        <p:nvSpPr>
          <p:cNvPr id="9" name="TextBox 8">
            <a:extLst>
              <a:ext uri="{FF2B5EF4-FFF2-40B4-BE49-F238E27FC236}">
                <a16:creationId xmlns:a16="http://schemas.microsoft.com/office/drawing/2014/main" id="{8960A732-5B24-F4A8-F373-3941C93DB768}"/>
              </a:ext>
            </a:extLst>
          </p:cNvPr>
          <p:cNvSpPr txBox="1"/>
          <p:nvPr/>
        </p:nvSpPr>
        <p:spPr>
          <a:xfrm>
            <a:off x="896064" y="1231270"/>
            <a:ext cx="8552735" cy="923330"/>
          </a:xfrm>
          <a:prstGeom prst="rect">
            <a:avLst/>
          </a:prstGeom>
          <a:noFill/>
        </p:spPr>
        <p:txBody>
          <a:bodyPr wrap="square">
            <a:spAutoFit/>
          </a:bodyPr>
          <a:lstStyle/>
          <a:p>
            <a:r>
              <a:rPr lang="en-US" b="0" i="0" dirty="0">
                <a:solidFill>
                  <a:srgbClr val="FFFFFF"/>
                </a:solidFill>
                <a:effectLst/>
                <a:latin typeface="Segoe UI" panose="020B0502040204020203" pitchFamily="34" charset="0"/>
              </a:rPr>
              <a:t>By entering tasks for your project, you can specify everything that must be done to complete the job. For each task, you can plan capacity and sales for resources and items.</a:t>
            </a:r>
            <a:endParaRPr lang="en-US" dirty="0"/>
          </a:p>
        </p:txBody>
      </p:sp>
      <p:pic>
        <p:nvPicPr>
          <p:cNvPr id="10" name="Content Placeholder 9">
            <a:extLst>
              <a:ext uri="{FF2B5EF4-FFF2-40B4-BE49-F238E27FC236}">
                <a16:creationId xmlns:a16="http://schemas.microsoft.com/office/drawing/2014/main" id="{4D97429A-4F60-6937-E492-103E646A6C96}"/>
              </a:ext>
            </a:extLst>
          </p:cNvPr>
          <p:cNvPicPr>
            <a:picLocks noGrp="1" noChangeAspect="1"/>
          </p:cNvPicPr>
          <p:nvPr>
            <p:ph idx="1"/>
          </p:nvPr>
        </p:nvPicPr>
        <p:blipFill>
          <a:blip r:embed="rId3"/>
          <a:stretch>
            <a:fillRect/>
          </a:stretch>
        </p:blipFill>
        <p:spPr>
          <a:xfrm>
            <a:off x="971659" y="2585884"/>
            <a:ext cx="8466570" cy="3126658"/>
          </a:xfrm>
          <a:prstGeom prst="rect">
            <a:avLst/>
          </a:prstGeom>
        </p:spPr>
      </p:pic>
    </p:spTree>
    <p:extLst>
      <p:ext uri="{BB962C8B-B14F-4D97-AF65-F5344CB8AC3E}">
        <p14:creationId xmlns:p14="http://schemas.microsoft.com/office/powerpoint/2010/main" val="4135945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6CF4-3D1A-8E86-9320-5DEB056F7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24DD7-1C2D-B5FC-CB05-FD7F9FFFF6E8}"/>
              </a:ext>
            </a:extLst>
          </p:cNvPr>
          <p:cNvSpPr>
            <a:spLocks noGrp="1"/>
          </p:cNvSpPr>
          <p:nvPr>
            <p:ph type="title"/>
          </p:nvPr>
        </p:nvSpPr>
        <p:spPr>
          <a:xfrm>
            <a:off x="1143000" y="3200400"/>
            <a:ext cx="5029200" cy="2743200"/>
          </a:xfrm>
        </p:spPr>
        <p:txBody>
          <a:bodyPr lIns="0" anchor="t" anchorCtr="0"/>
          <a:lstStyle/>
          <a:p>
            <a:r>
              <a:rPr lang="en-US" dirty="0"/>
              <a:t>Resource functionality</a:t>
            </a:r>
          </a:p>
        </p:txBody>
      </p:sp>
      <p:sp>
        <p:nvSpPr>
          <p:cNvPr id="3" name="Text Placeholder 2">
            <a:extLst>
              <a:ext uri="{FF2B5EF4-FFF2-40B4-BE49-F238E27FC236}">
                <a16:creationId xmlns:a16="http://schemas.microsoft.com/office/drawing/2014/main" id="{35D1EDF5-5788-E6C3-1907-95EE7B6A4A5E}"/>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1064939E-004E-0BDC-1FAA-E79ECAE2DABC}"/>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1652006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BA96D-6A7E-7B75-F83D-2B83F37625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F680F1-A4EB-00CC-8531-CA51DEA86206}"/>
              </a:ext>
            </a:extLst>
          </p:cNvPr>
          <p:cNvSpPr>
            <a:spLocks noGrp="1"/>
          </p:cNvSpPr>
          <p:nvPr>
            <p:ph type="title"/>
          </p:nvPr>
        </p:nvSpPr>
        <p:spPr>
          <a:xfrm>
            <a:off x="914400" y="731520"/>
            <a:ext cx="3931920" cy="2103120"/>
          </a:xfrm>
        </p:spPr>
        <p:txBody>
          <a:bodyPr anchor="b" anchorCtr="0"/>
          <a:lstStyle/>
          <a:p>
            <a:r>
              <a:rPr lang="en-US" altLang="zh-CN" dirty="0"/>
              <a:t>Resources</a:t>
            </a:r>
            <a:endParaRPr lang="en-US" dirty="0"/>
          </a:p>
        </p:txBody>
      </p:sp>
      <p:sp>
        <p:nvSpPr>
          <p:cNvPr id="20" name="Text Placeholder 19">
            <a:extLst>
              <a:ext uri="{FF2B5EF4-FFF2-40B4-BE49-F238E27FC236}">
                <a16:creationId xmlns:a16="http://schemas.microsoft.com/office/drawing/2014/main" id="{8C5C0C54-8E93-4896-82FE-D5288BC48D74}"/>
              </a:ext>
            </a:extLst>
          </p:cNvPr>
          <p:cNvSpPr>
            <a:spLocks noGrp="1"/>
          </p:cNvSpPr>
          <p:nvPr>
            <p:ph idx="1"/>
          </p:nvPr>
        </p:nvSpPr>
        <p:spPr>
          <a:xfrm>
            <a:off x="914400" y="3108960"/>
            <a:ext cx="3931920" cy="2651760"/>
          </a:xfrm>
        </p:spPr>
        <p:txBody>
          <a:bodyPr>
            <a:normAutofit/>
          </a:bodyPr>
          <a:lstStyle/>
          <a:p>
            <a:pPr marL="0" indent="0">
              <a:buNone/>
            </a:pPr>
            <a:r>
              <a:rPr lang="en-US" dirty="0"/>
              <a:t>A resource can be defined as a person's effort or that of a machine. With the </a:t>
            </a:r>
            <a:r>
              <a:rPr lang="en-US" b="1" dirty="0"/>
              <a:t>Resources</a:t>
            </a:r>
            <a:r>
              <a:rPr lang="en-US" dirty="0"/>
              <a:t> functionality, you can register and sell resources, combine related resources into one resource group, or track individual resources.</a:t>
            </a:r>
          </a:p>
        </p:txBody>
      </p:sp>
      <p:pic>
        <p:nvPicPr>
          <p:cNvPr id="12" name="Picture Placeholder 11" descr="Three people having a discussion at a table">
            <a:extLst>
              <a:ext uri="{FF2B5EF4-FFF2-40B4-BE49-F238E27FC236}">
                <a16:creationId xmlns:a16="http://schemas.microsoft.com/office/drawing/2014/main" id="{BD9DE14E-DAD0-835B-B073-1CAE0FF32B04}"/>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E5071266-4DC1-52EA-A405-7A251063CA2F}"/>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6837DC9B-C2FB-16D3-A149-4EA3F3580F19}"/>
              </a:ext>
            </a:extLst>
          </p:cNvPr>
          <p:cNvSpPr>
            <a:spLocks noGrp="1"/>
          </p:cNvSpPr>
          <p:nvPr>
            <p:ph type="sldNum" sz="quarter" idx="53"/>
          </p:nvPr>
        </p:nvSpPr>
        <p:spPr/>
        <p:txBody>
          <a:bodyPr/>
          <a:lstStyle/>
          <a:p>
            <a:fld id="{47FEACEE-25B4-4A2D-B147-27296E36371D}" type="slidenum">
              <a:rPr lang="en-US" altLang="zh-CN" noProof="0" smtClean="0"/>
              <a:pPr/>
              <a:t>10</a:t>
            </a:fld>
            <a:endParaRPr lang="en-US" altLang="zh-CN" noProof="0" dirty="0"/>
          </a:p>
        </p:txBody>
      </p:sp>
    </p:spTree>
    <p:extLst>
      <p:ext uri="{BB962C8B-B14F-4D97-AF65-F5344CB8AC3E}">
        <p14:creationId xmlns:p14="http://schemas.microsoft.com/office/powerpoint/2010/main" val="4156046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896065" y="194753"/>
            <a:ext cx="10527400" cy="1036517"/>
          </a:xfrm>
        </p:spPr>
        <p:txBody>
          <a:bodyPr/>
          <a:lstStyle/>
          <a:p>
            <a:r>
              <a:rPr lang="en-US" dirty="0"/>
              <a:t>Resource Capacity and Availability</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896065" y="1393315"/>
            <a:ext cx="8621561" cy="819814"/>
          </a:xfrm>
        </p:spPr>
        <p:txBody>
          <a:bodyPr>
            <a:normAutofit lnSpcReduction="10000"/>
          </a:bodyPr>
          <a:lstStyle/>
          <a:p>
            <a:r>
              <a:rPr lang="en-US" dirty="0"/>
              <a:t>You can set capacity for each resource and monitor the usage for resources, which allows you to obtain a complete overview of the capacity and availability of your resources.</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11</a:t>
            </a:fld>
            <a:endParaRPr lang="en-US" altLang="zh-CN" noProof="0" dirty="0"/>
          </a:p>
        </p:txBody>
      </p:sp>
      <p:pic>
        <p:nvPicPr>
          <p:cNvPr id="6" name="Content Placeholder 5">
            <a:extLst>
              <a:ext uri="{FF2B5EF4-FFF2-40B4-BE49-F238E27FC236}">
                <a16:creationId xmlns:a16="http://schemas.microsoft.com/office/drawing/2014/main" id="{85C08820-B474-40CF-9D92-DDCF6C06BD87}"/>
              </a:ext>
            </a:extLst>
          </p:cNvPr>
          <p:cNvPicPr>
            <a:picLocks noGrp="1" noChangeAspect="1"/>
          </p:cNvPicPr>
          <p:nvPr>
            <p:ph idx="56"/>
          </p:nvPr>
        </p:nvPicPr>
        <p:blipFill>
          <a:blip r:embed="rId3"/>
          <a:stretch>
            <a:fillRect/>
          </a:stretch>
        </p:blipFill>
        <p:spPr>
          <a:xfrm>
            <a:off x="1002889" y="2375174"/>
            <a:ext cx="7132639" cy="4288073"/>
          </a:xfrm>
          <a:prstGeom prst="rect">
            <a:avLst/>
          </a:prstGeom>
        </p:spPr>
      </p:pic>
    </p:spTree>
    <p:extLst>
      <p:ext uri="{BB962C8B-B14F-4D97-AF65-F5344CB8AC3E}">
        <p14:creationId xmlns:p14="http://schemas.microsoft.com/office/powerpoint/2010/main" val="4182148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07E91-E56F-2E27-6312-819FBC91031F}"/>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EEC4668E-BB18-1AD3-C6E4-BE4DD58A948F}"/>
              </a:ext>
            </a:extLst>
          </p:cNvPr>
          <p:cNvSpPr>
            <a:spLocks noGrp="1"/>
          </p:cNvSpPr>
          <p:nvPr>
            <p:ph type="title"/>
          </p:nvPr>
        </p:nvSpPr>
        <p:spPr>
          <a:xfrm>
            <a:off x="896065" y="194753"/>
            <a:ext cx="10527400" cy="1036517"/>
          </a:xfrm>
        </p:spPr>
        <p:txBody>
          <a:bodyPr/>
          <a:lstStyle/>
          <a:p>
            <a:r>
              <a:rPr lang="en-US" dirty="0"/>
              <a:t>Timesheet</a:t>
            </a:r>
          </a:p>
        </p:txBody>
      </p:sp>
      <p:sp>
        <p:nvSpPr>
          <p:cNvPr id="43" name="Text Placeholder 42">
            <a:extLst>
              <a:ext uri="{FF2B5EF4-FFF2-40B4-BE49-F238E27FC236}">
                <a16:creationId xmlns:a16="http://schemas.microsoft.com/office/drawing/2014/main" id="{F5F02B7E-F489-3C07-9F38-C59BA0C7E6CD}"/>
              </a:ext>
            </a:extLst>
          </p:cNvPr>
          <p:cNvSpPr>
            <a:spLocks noGrp="1"/>
          </p:cNvSpPr>
          <p:nvPr>
            <p:ph idx="1"/>
          </p:nvPr>
        </p:nvSpPr>
        <p:spPr>
          <a:xfrm>
            <a:off x="896065" y="1393314"/>
            <a:ext cx="8621561" cy="1281059"/>
          </a:xfrm>
        </p:spPr>
        <p:txBody>
          <a:bodyPr>
            <a:normAutofit fontScale="92500" lnSpcReduction="20000"/>
          </a:bodyPr>
          <a:lstStyle/>
          <a:p>
            <a:r>
              <a:rPr lang="en-US" dirty="0"/>
              <a:t>Time sheets are a simple and flexible solution for time registration with manager approval, and they integrate with the </a:t>
            </a:r>
            <a:r>
              <a:rPr lang="en-US" b="1" dirty="0"/>
              <a:t>Service</a:t>
            </a:r>
            <a:r>
              <a:rPr lang="en-US" dirty="0"/>
              <a:t>, </a:t>
            </a:r>
            <a:r>
              <a:rPr lang="en-US" b="1" dirty="0"/>
              <a:t>Projects</a:t>
            </a:r>
            <a:r>
              <a:rPr lang="en-US" dirty="0"/>
              <a:t>, and </a:t>
            </a:r>
            <a:r>
              <a:rPr lang="en-US" b="1" dirty="0"/>
              <a:t>Basic Resources</a:t>
            </a:r>
            <a:r>
              <a:rPr lang="en-US" dirty="0"/>
              <a:t> functionalities.</a:t>
            </a:r>
          </a:p>
          <a:p>
            <a:r>
              <a:rPr lang="en-US" dirty="0"/>
              <a:t>With timesheets, resources can enter hours that are spent on projects. After configuring which resources should enter timesheets, the timesheet administrator can prepare timesheets by week based on project planning line</a:t>
            </a:r>
          </a:p>
        </p:txBody>
      </p:sp>
      <p:sp>
        <p:nvSpPr>
          <p:cNvPr id="11" name="Slide Number Placeholder 13">
            <a:extLst>
              <a:ext uri="{FF2B5EF4-FFF2-40B4-BE49-F238E27FC236}">
                <a16:creationId xmlns:a16="http://schemas.microsoft.com/office/drawing/2014/main" id="{0A8D99CB-17E0-5C2E-4E48-3567CC24384F}"/>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E57A4FE4-4AFC-AC6E-7503-EF571201FFB6}"/>
              </a:ext>
            </a:extLst>
          </p:cNvPr>
          <p:cNvSpPr>
            <a:spLocks noGrp="1"/>
          </p:cNvSpPr>
          <p:nvPr>
            <p:ph type="sldNum" sz="quarter" idx="55"/>
          </p:nvPr>
        </p:nvSpPr>
        <p:spPr/>
        <p:txBody>
          <a:bodyPr/>
          <a:lstStyle/>
          <a:p>
            <a:fld id="{47FEACEE-25B4-4A2D-B147-27296E36371D}" type="slidenum">
              <a:rPr lang="en-US" altLang="zh-CN" noProof="0" smtClean="0"/>
              <a:pPr/>
              <a:t>12</a:t>
            </a:fld>
            <a:endParaRPr lang="en-US" altLang="zh-CN" noProof="0" dirty="0"/>
          </a:p>
        </p:txBody>
      </p:sp>
      <p:pic>
        <p:nvPicPr>
          <p:cNvPr id="10" name="Content Placeholder 9">
            <a:extLst>
              <a:ext uri="{FF2B5EF4-FFF2-40B4-BE49-F238E27FC236}">
                <a16:creationId xmlns:a16="http://schemas.microsoft.com/office/drawing/2014/main" id="{8BDB42C4-62CD-2B3B-DBFF-A38DDCF0B0B5}"/>
              </a:ext>
            </a:extLst>
          </p:cNvPr>
          <p:cNvPicPr>
            <a:picLocks noGrp="1" noChangeAspect="1"/>
          </p:cNvPicPr>
          <p:nvPr>
            <p:ph idx="56"/>
          </p:nvPr>
        </p:nvPicPr>
        <p:blipFill>
          <a:blip r:embed="rId3"/>
          <a:stretch>
            <a:fillRect/>
          </a:stretch>
        </p:blipFill>
        <p:spPr>
          <a:xfrm>
            <a:off x="1012722" y="2836417"/>
            <a:ext cx="6641025" cy="3581134"/>
          </a:xfrm>
          <a:prstGeom prst="rect">
            <a:avLst/>
          </a:prstGeom>
        </p:spPr>
      </p:pic>
    </p:spTree>
    <p:extLst>
      <p:ext uri="{BB962C8B-B14F-4D97-AF65-F5344CB8AC3E}">
        <p14:creationId xmlns:p14="http://schemas.microsoft.com/office/powerpoint/2010/main" val="315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Mirjam Nilsson</a:t>
            </a:r>
          </a:p>
          <a:p>
            <a:pPr lvl="0"/>
            <a:r>
              <a:rPr lang="en-US" dirty="0"/>
              <a:t>mirjam@contoso.com</a:t>
            </a:r>
          </a:p>
          <a:p>
            <a:pPr lvl="0"/>
            <a:r>
              <a:rPr lang="en-US" dirty="0"/>
              <a:t>www.contoso.com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59</TotalTime>
  <Words>403</Words>
  <Application>Microsoft Office PowerPoint</Application>
  <PresentationFormat>Widescreen</PresentationFormat>
  <Paragraphs>58</Paragraphs>
  <Slides>13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等线</vt:lpstr>
      <vt:lpstr>Abadi</vt:lpstr>
      <vt:lpstr>Arial</vt:lpstr>
      <vt:lpstr>Calibri</vt:lpstr>
      <vt:lpstr>Posterama</vt:lpstr>
      <vt:lpstr>Posterama Text SemiBold</vt:lpstr>
      <vt:lpstr>Segoe UI</vt:lpstr>
      <vt:lpstr>Custom</vt:lpstr>
      <vt:lpstr>MS Dynamics 365  Project management</vt:lpstr>
      <vt:lpstr>Agenda </vt:lpstr>
      <vt:lpstr>MS Dynamics365 Project management</vt:lpstr>
      <vt:lpstr>Project management   </vt:lpstr>
      <vt:lpstr>Projects functionality</vt:lpstr>
      <vt:lpstr>Projects</vt:lpstr>
      <vt:lpstr>Project functionality</vt:lpstr>
      <vt:lpstr>Project functionality</vt:lpstr>
      <vt:lpstr>Resource functionality</vt:lpstr>
      <vt:lpstr>Resources</vt:lpstr>
      <vt:lpstr>Resource Capacity and Availability</vt:lpstr>
      <vt:lpstr>Timesheet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4</cp:revision>
  <dcterms:created xsi:type="dcterms:W3CDTF">2026-05-18T13:07:38Z</dcterms:created>
  <dcterms:modified xsi:type="dcterms:W3CDTF">2026-05-27T13:21:37Z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