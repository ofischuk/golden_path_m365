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92" r:id="rId5"/>
    <p:sldId id="299" r:id="rId6"/>
    <p:sldId id="297" r:id="rId7"/>
    <p:sldId id="261" r:id="rId8"/>
    <p:sldId id="298" r:id="rId9"/>
    <p:sldId id="279" r:id="rId10"/>
    <p:sldId id="293" r:id="rId11"/>
    <p:sldId id="303" r:id="rId12"/>
    <p:sldId id="301" r:id="rId13"/>
    <p:sldId id="306" r:id="rId14"/>
    <p:sldId id="307" r:id="rId15"/>
    <p:sldId id="308" r:id="rId16"/>
    <p:sldId id="302" r:id="rId17"/>
    <p:sldId id="309" r:id="rId18"/>
    <p:sldId id="304" r:id="rId19"/>
    <p:sldId id="28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Option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Based on production env</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Option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0" i="0" dirty="0"/>
            <a:t>Copy environment</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Option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Delete/restoring the sandbox</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Option 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a:latin typeface="+mn-lt"/>
            </a:rPr>
            <a:t>Transfer </a:t>
          </a:r>
          <a:r>
            <a:rPr lang="en-US" sz="1800" dirty="0" err="1">
              <a:latin typeface="+mn-lt"/>
            </a:rPr>
            <a:t>envs</a:t>
          </a:r>
          <a:r>
            <a:rPr lang="en-US" sz="1800" dirty="0">
              <a:latin typeface="+mn-lt"/>
            </a:rPr>
            <a:t> between tenants</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Based on production env</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Copy environment</a:t>
          </a:r>
          <a:endParaRPr lang="en-US" sz="1800" b="0" kern="1200" dirty="0">
            <a:latin typeface="+mn-lt"/>
          </a:endParaRP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325482"/>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Delete/restoring the sandbox</a:t>
          </a:r>
        </a:p>
      </dsp:txBody>
      <dsp:txXfrm>
        <a:off x="3576090" y="366721"/>
        <a:ext cx="2962664" cy="762313"/>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Transfer </a:t>
          </a:r>
          <a:r>
            <a:rPr lang="en-US" sz="1800" kern="1200" dirty="0" err="1">
              <a:latin typeface="+mn-lt"/>
            </a:rPr>
            <a:t>envs</a:t>
          </a:r>
          <a:r>
            <a:rPr lang="en-US" sz="1800" kern="1200" dirty="0">
              <a:latin typeface="+mn-lt"/>
            </a:rPr>
            <a:t> between tenants</a:t>
          </a:r>
        </a:p>
      </dsp:txBody>
      <dsp:txXfrm>
        <a:off x="5342273" y="2646040"/>
        <a:ext cx="2962664" cy="762313"/>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6/23/2026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6/23/2026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E351-D547-E59A-579A-9577B8C5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5027-21D4-48DF-182A-B6CBDF92CFB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E1C011-8A8E-1716-BBEE-5AAD8E47E29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6514F9-9D1B-3248-A1AC-8AAB111E30F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3589832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80C9-AB3F-5E1E-E296-5A27921E0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D9364-70A2-50E8-EBA5-5090D862394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EBD9D36-8621-34B7-117C-AAA773995BC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EDECB61-13AF-D7E8-1B6A-82D08213B9A4}"/>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987809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DBF5-EDC9-6AF3-B4F7-D467E44A9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7A16C-27DB-FEE2-1C9F-3CB3AA6FA4F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FDC146ED-72B6-BAC6-9BDC-3EA6D3941B82}"/>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0B778A21-F5D5-90F9-EDF7-D67A611D64C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2494105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249B-01FE-DD04-E382-D507214F7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2851C-E8D6-727C-7790-3BE2A9D59A14}"/>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C2C1AF21-64A0-7BE7-E7BC-71A547B93D3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7F06779-CFF8-ECAA-290E-47183A39601B}"/>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4254658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353C-1BC7-4581-3D7A-60CD7A910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427E3-22CF-CB8E-B314-7F43325D5D3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B79FF99-8F06-6603-38C5-AFDB2F4EF2F8}"/>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A7B0CB5-9E74-69A8-E9FA-B70108A0CB9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3709835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0B09-0CD4-98DD-D6F1-BB746267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B6961-78B4-168E-315B-2860E831F20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AC7A63A-7AE2-BD27-AC91-D4EC09616FA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8B86B8F-8925-AF09-8CB6-0565799DCF2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2752163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2215-9386-D729-EDBD-2EA2BC4D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9F556-C94B-9D0D-E3D8-6A7E219023D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825EF17-C7B5-75F1-1003-03A3404FABE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0586DF1-C27A-87B9-FE1C-D3C2AD116EE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1985985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Manage environments</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Manage sandbox and production environments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br>
              <a:rPr lang="en-US" dirty="0"/>
            </a:br>
            <a:br>
              <a:rPr lang="en-US" dirty="0"/>
            </a:br>
            <a:r>
              <a:rPr lang="en-US" dirty="0"/>
              <a:t>How to create </a:t>
            </a: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The Business Central administration center provides a simple method for creating the production environments for a tenant. For each tenant, administrators can create multiple production environments, including</a:t>
            </a:r>
            <a:br>
              <a:rPr lang="en-US" dirty="0"/>
            </a:br>
            <a:r>
              <a:rPr lang="en-US" dirty="0"/>
              <a:t>the option for environments to be on different country-specific or region-specific versions of Business Central.</a:t>
            </a:r>
          </a:p>
          <a:p>
            <a:endParaRPr lang="en-US" dirty="0"/>
          </a:p>
          <a:p>
            <a:r>
              <a:rPr lang="en-US" dirty="0"/>
              <a:t>You can use one production environment and three sandbox environments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914400" y="731520"/>
            <a:ext cx="3931920" cy="2103120"/>
          </a:xfrm>
        </p:spPr>
        <p:txBody>
          <a:bodyPr lIns="0" anchor="b" anchorCtr="0">
            <a:normAutofit/>
          </a:bodyPr>
          <a:lstStyle/>
          <a:p>
            <a:r>
              <a:rPr lang="en-US" dirty="0"/>
              <a:t>Create environment</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idx="1"/>
          </p:nvPr>
        </p:nvSpPr>
        <p:spPr>
          <a:xfrm>
            <a:off x="914400" y="3108960"/>
            <a:ext cx="3931920" cy="2651760"/>
          </a:xfrm>
        </p:spPr>
        <p:txBody>
          <a:bodyPr anchorCtr="0">
            <a:normAutofit/>
          </a:bodyPr>
          <a:lstStyle/>
          <a:p>
            <a:r>
              <a:rPr lang="en-US" dirty="0"/>
              <a:t>Unlocking new horizons</a:t>
            </a:r>
          </a:p>
        </p:txBody>
      </p:sp>
      <p:pic>
        <p:nvPicPr>
          <p:cNvPr id="7" name="Picture Placeholder 6">
            <a:extLst>
              <a:ext uri="{FF2B5EF4-FFF2-40B4-BE49-F238E27FC236}">
                <a16:creationId xmlns:a16="http://schemas.microsoft.com/office/drawing/2014/main" id="{C5E863DB-C91D-A4E0-5D10-F09BD7E2B183}"/>
              </a:ext>
            </a:extLst>
          </p:cNvPr>
          <p:cNvPicPr>
            <a:picLocks noGrp="1" noChangeAspect="1"/>
          </p:cNvPicPr>
          <p:nvPr>
            <p:ph type="pic" sz="quarter" idx="54"/>
          </p:nvPr>
        </p:nvPicPr>
        <p:blipFill>
          <a:blip r:embed="rId2"/>
          <a:srcRect b="25271"/>
          <a:stretch>
            <a:fillRect/>
          </a:stretch>
        </p:blipFill>
        <p:spPr>
          <a:xfrm>
            <a:off x="5745002" y="10"/>
            <a:ext cx="6446999" cy="685799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noFill/>
        </p:spPr>
      </p:pic>
      <p:sp>
        <p:nvSpPr>
          <p:cNvPr id="9" name="Slide Number Placeholder 4">
            <a:extLst>
              <a:ext uri="{FF2B5EF4-FFF2-40B4-BE49-F238E27FC236}">
                <a16:creationId xmlns:a16="http://schemas.microsoft.com/office/drawing/2014/main" id="{8870AACC-0659-246C-DF82-C49D1704E8E7}"/>
              </a:ext>
            </a:extLst>
          </p:cNvPr>
          <p:cNvSpPr>
            <a:spLocks noGrp="1"/>
          </p:cNvSpPr>
          <p:nvPr>
            <p:ph type="sldNum" sz="quarter" idx="53"/>
          </p:nvPr>
        </p:nvSpPr>
        <p:spPr>
          <a:xfrm>
            <a:off x="11194169" y="6217920"/>
            <a:ext cx="458592" cy="365125"/>
          </a:xfrm>
        </p:spPr>
        <p:txBody>
          <a:bodyPr/>
          <a:lstStyle/>
          <a:p>
            <a:pPr>
              <a:spcAft>
                <a:spcPts val="600"/>
              </a:spcAft>
            </a:pPr>
            <a:fld id="{47FEACEE-25B4-4A2D-B147-27296E36371D}" type="slidenum">
              <a:rPr lang="en-US" altLang="zh-CN" noProof="0" smtClean="0"/>
              <a:pPr>
                <a:spcAft>
                  <a:spcPts val="600"/>
                </a:spcAft>
              </a:pPr>
              <a:t>5</a:t>
            </a:fld>
            <a:endParaRPr lang="en-US" altLang="zh-CN" noProof="0"/>
          </a:p>
        </p:txBody>
      </p:sp>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Applied actions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904347425"/>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Create a sandbox based on a production environment</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7020233" cy="3242679"/>
          </a:xfrm>
        </p:spPr>
        <p:txBody>
          <a:bodyPr>
            <a:normAutofit lnSpcReduction="10000"/>
          </a:bodyPr>
          <a:lstStyle/>
          <a:p>
            <a:r>
              <a:rPr lang="en-US" dirty="0"/>
              <a:t>If a sandbox is created with a copy of a production environment, several precautions are taken for that sandbox:</a:t>
            </a:r>
          </a:p>
          <a:p>
            <a:pPr marL="285750" indent="-285750">
              <a:buFont typeface="Wingdings" panose="05000000000000000000" pitchFamily="2" charset="2"/>
              <a:buChar char="ü"/>
            </a:pPr>
            <a:r>
              <a:rPr lang="en-US" dirty="0"/>
              <a:t>The job queue is automatically stopped.</a:t>
            </a:r>
          </a:p>
          <a:p>
            <a:pPr marL="285750" indent="-285750">
              <a:buFont typeface="Wingdings" panose="05000000000000000000" pitchFamily="2" charset="2"/>
              <a:buChar char="ü"/>
            </a:pPr>
            <a:r>
              <a:rPr lang="en-US" dirty="0"/>
              <a:t>Any base application integration settings are cleared.</a:t>
            </a:r>
          </a:p>
          <a:p>
            <a:pPr marL="285750" indent="-285750">
              <a:buFont typeface="Wingdings" panose="05000000000000000000" pitchFamily="2" charset="2"/>
              <a:buChar char="ü"/>
            </a:pPr>
            <a:r>
              <a:rPr lang="en-US" dirty="0"/>
              <a:t>Outbound HTTP calls from extensions are blocked by default and must be approved for each extension.</a:t>
            </a:r>
          </a:p>
          <a:p>
            <a:pPr marL="285750" indent="-285750">
              <a:buFont typeface="Wingdings" panose="05000000000000000000" pitchFamily="2" charset="2"/>
              <a:buChar char="ü"/>
            </a:pPr>
            <a:r>
              <a:rPr lang="en-US" dirty="0"/>
              <a:t>Any General Data Protection Regulation (GDPR) action must be handled separately and repeated for the sandbox. No synchronization occurs with the production environment after the sandbox has been created.</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14400" y="1060704"/>
            <a:ext cx="7132320" cy="1773936"/>
          </a:xfrm>
        </p:spPr>
        <p:txBody>
          <a:bodyPr/>
          <a:lstStyle/>
          <a:p>
            <a:r>
              <a:rPr lang="en-US" dirty="0"/>
              <a:t>Copy environments</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7216878" cy="3242679"/>
          </a:xfrm>
        </p:spPr>
        <p:txBody>
          <a:bodyPr>
            <a:normAutofit/>
          </a:bodyPr>
          <a:lstStyle/>
          <a:p>
            <a:r>
              <a:rPr lang="en-US" dirty="0"/>
              <a:t>You can create an environment that is a copy of an existing environment, such as a sandbox that is based on production for troubleshooting, or a production environment that is based on a sandbox, for example</a:t>
            </a:r>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43646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BA0F-2245-09A6-EB34-7FBAA14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92BFE-6958-8DD1-B034-D6CDF2EDECBE}"/>
              </a:ext>
            </a:extLst>
          </p:cNvPr>
          <p:cNvSpPr>
            <a:spLocks noGrp="1"/>
          </p:cNvSpPr>
          <p:nvPr>
            <p:ph type="title"/>
          </p:nvPr>
        </p:nvSpPr>
        <p:spPr>
          <a:xfrm>
            <a:off x="914400" y="731520"/>
            <a:ext cx="3931920" cy="2103120"/>
          </a:xfrm>
        </p:spPr>
        <p:txBody>
          <a:bodyPr anchor="b" anchorCtr="0"/>
          <a:lstStyle/>
          <a:p>
            <a:r>
              <a:rPr lang="en-US" dirty="0"/>
              <a:t>The following setups are set to a status of disabled:</a:t>
            </a:r>
          </a:p>
        </p:txBody>
      </p:sp>
      <p:sp>
        <p:nvSpPr>
          <p:cNvPr id="20" name="Text Placeholder 19">
            <a:extLst>
              <a:ext uri="{FF2B5EF4-FFF2-40B4-BE49-F238E27FC236}">
                <a16:creationId xmlns:a16="http://schemas.microsoft.com/office/drawing/2014/main" id="{FB465812-A634-6E97-E99D-FA6774F4F31A}"/>
              </a:ext>
            </a:extLst>
          </p:cNvPr>
          <p:cNvSpPr>
            <a:spLocks noGrp="1"/>
          </p:cNvSpPr>
          <p:nvPr>
            <p:ph idx="1"/>
          </p:nvPr>
        </p:nvSpPr>
        <p:spPr>
          <a:xfrm>
            <a:off x="914400" y="3108960"/>
            <a:ext cx="3931920" cy="2651760"/>
          </a:xfrm>
        </p:spPr>
        <p:txBody>
          <a:bodyPr>
            <a:normAutofit fontScale="70000" lnSpcReduction="20000"/>
          </a:bodyPr>
          <a:lstStyle/>
          <a:p>
            <a:pPr lvl="1"/>
            <a:r>
              <a:rPr lang="en-US" dirty="0"/>
              <a:t>Doc. Exch. Service Setup</a:t>
            </a:r>
          </a:p>
          <a:p>
            <a:pPr lvl="1"/>
            <a:r>
              <a:rPr lang="en-US" dirty="0"/>
              <a:t>Curr. Exch. Rate Update Setup</a:t>
            </a:r>
          </a:p>
          <a:p>
            <a:pPr lvl="1"/>
            <a:r>
              <a:rPr lang="en-US" dirty="0"/>
              <a:t>VAT Reg. No. </a:t>
            </a:r>
            <a:r>
              <a:rPr lang="en-US" dirty="0" err="1"/>
              <a:t>Srv</a:t>
            </a:r>
            <a:r>
              <a:rPr lang="en-US" dirty="0"/>
              <a:t> Config</a:t>
            </a:r>
          </a:p>
          <a:p>
            <a:pPr lvl="1"/>
            <a:r>
              <a:rPr lang="en-US" dirty="0"/>
              <a:t>Graph Mail Setup</a:t>
            </a:r>
          </a:p>
          <a:p>
            <a:pPr lvl="1"/>
            <a:r>
              <a:rPr lang="en-US" dirty="0"/>
              <a:t>CRM Connection Setup</a:t>
            </a:r>
          </a:p>
          <a:p>
            <a:pPr lvl="1"/>
            <a:r>
              <a:rPr lang="en-US" dirty="0"/>
              <a:t>CDS Connection Setup</a:t>
            </a:r>
          </a:p>
          <a:p>
            <a:pPr lvl="1"/>
            <a:r>
              <a:rPr lang="en-US" dirty="0"/>
              <a:t>All records in the Service Connection table</a:t>
            </a:r>
          </a:p>
          <a:p>
            <a:pPr lvl="1"/>
            <a:r>
              <a:rPr lang="en-US" dirty="0"/>
              <a:t>All records in the Exchange Sync table</a:t>
            </a:r>
          </a:p>
          <a:p>
            <a:endParaRPr lang="en-US" dirty="0"/>
          </a:p>
        </p:txBody>
      </p:sp>
      <p:sp>
        <p:nvSpPr>
          <p:cNvPr id="9" name="Slide Number Placeholder 13">
            <a:extLst>
              <a:ext uri="{FF2B5EF4-FFF2-40B4-BE49-F238E27FC236}">
                <a16:creationId xmlns:a16="http://schemas.microsoft.com/office/drawing/2014/main" id="{F2F9DFCB-2C8F-3FA1-04A4-0F17BB7C2D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AAA860C-B08E-C71C-1D3D-6A2502AF15E9}"/>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5C6DBD7-0360-D6B3-1CF0-E77FE1E24E13}"/>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96931FF-BD10-1803-1E5F-708A61E33F4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519358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B285-D403-AAAE-ECC1-9AD6EC1038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5CD1B1-06F7-9F64-B463-E1103DFD4D18}"/>
              </a:ext>
            </a:extLst>
          </p:cNvPr>
          <p:cNvSpPr>
            <a:spLocks noGrp="1"/>
          </p:cNvSpPr>
          <p:nvPr>
            <p:ph type="title"/>
          </p:nvPr>
        </p:nvSpPr>
        <p:spPr>
          <a:xfrm>
            <a:off x="914400" y="731520"/>
            <a:ext cx="3931920" cy="2103120"/>
          </a:xfrm>
        </p:spPr>
        <p:txBody>
          <a:bodyPr anchor="b" anchorCtr="0"/>
          <a:lstStyle/>
          <a:p>
            <a:r>
              <a:rPr lang="en-US" dirty="0"/>
              <a:t>The following data is cleared:</a:t>
            </a:r>
          </a:p>
        </p:txBody>
      </p:sp>
      <p:sp>
        <p:nvSpPr>
          <p:cNvPr id="20" name="Text Placeholder 19">
            <a:extLst>
              <a:ext uri="{FF2B5EF4-FFF2-40B4-BE49-F238E27FC236}">
                <a16:creationId xmlns:a16="http://schemas.microsoft.com/office/drawing/2014/main" id="{FA7F8848-8EA3-7E6A-AD97-AE71756B9A1B}"/>
              </a:ext>
            </a:extLst>
          </p:cNvPr>
          <p:cNvSpPr>
            <a:spLocks noGrp="1"/>
          </p:cNvSpPr>
          <p:nvPr>
            <p:ph idx="1"/>
          </p:nvPr>
        </p:nvSpPr>
        <p:spPr>
          <a:xfrm>
            <a:off x="914400" y="3108960"/>
            <a:ext cx="3931920" cy="2651760"/>
          </a:xfrm>
        </p:spPr>
        <p:txBody>
          <a:bodyPr>
            <a:normAutofit/>
          </a:bodyPr>
          <a:lstStyle/>
          <a:p>
            <a:r>
              <a:rPr lang="en-US" dirty="0"/>
              <a:t>Password in the OCR Service Setup table</a:t>
            </a:r>
          </a:p>
          <a:p>
            <a:r>
              <a:rPr lang="en-US" dirty="0"/>
              <a:t>SMTP Server in SMTP Mail Setup</a:t>
            </a:r>
          </a:p>
          <a:p>
            <a:r>
              <a:rPr lang="en-US" dirty="0"/>
              <a:t>Exchange Service URL in the Marketing Setup table</a:t>
            </a:r>
          </a:p>
          <a:p>
            <a:endParaRPr lang="en-US" dirty="0"/>
          </a:p>
        </p:txBody>
      </p:sp>
      <p:sp>
        <p:nvSpPr>
          <p:cNvPr id="9" name="Slide Number Placeholder 13">
            <a:extLst>
              <a:ext uri="{FF2B5EF4-FFF2-40B4-BE49-F238E27FC236}">
                <a16:creationId xmlns:a16="http://schemas.microsoft.com/office/drawing/2014/main" id="{1DBEB028-EC35-4E15-9EAF-52E9C85916A6}"/>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7657D3DB-BE7A-1E6C-BC70-87C626DC3F85}"/>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34622A38-0C04-866F-1829-60CDDDBC15FC}"/>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262AEDEA-29DA-A18D-C616-48FADB853255}"/>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1136122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3C279-131E-5E1F-4054-E2B3844080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89529DC-5536-7139-2C5A-BF37DED701B9}"/>
              </a:ext>
            </a:extLst>
          </p:cNvPr>
          <p:cNvSpPr>
            <a:spLocks noGrp="1"/>
          </p:cNvSpPr>
          <p:nvPr>
            <p:ph type="title"/>
          </p:nvPr>
        </p:nvSpPr>
        <p:spPr>
          <a:xfrm>
            <a:off x="914400" y="731520"/>
            <a:ext cx="3931920" cy="2103120"/>
          </a:xfrm>
        </p:spPr>
        <p:txBody>
          <a:bodyPr anchor="b" anchorCtr="0">
            <a:normAutofit fontScale="90000"/>
          </a:bodyPr>
          <a:lstStyle/>
          <a:p>
            <a:r>
              <a:rPr lang="en-US" dirty="0"/>
              <a:t>The following changes are made for first-party extensions:</a:t>
            </a:r>
          </a:p>
        </p:txBody>
      </p:sp>
      <p:sp>
        <p:nvSpPr>
          <p:cNvPr id="20" name="Text Placeholder 19">
            <a:extLst>
              <a:ext uri="{FF2B5EF4-FFF2-40B4-BE49-F238E27FC236}">
                <a16:creationId xmlns:a16="http://schemas.microsoft.com/office/drawing/2014/main" id="{DA54D358-83B8-6CC3-03D2-5AEC153E12F0}"/>
              </a:ext>
            </a:extLst>
          </p:cNvPr>
          <p:cNvSpPr>
            <a:spLocks noGrp="1"/>
          </p:cNvSpPr>
          <p:nvPr>
            <p:ph idx="1"/>
          </p:nvPr>
        </p:nvSpPr>
        <p:spPr>
          <a:xfrm>
            <a:off x="914400" y="3108960"/>
            <a:ext cx="3931920" cy="2651760"/>
          </a:xfrm>
        </p:spPr>
        <p:txBody>
          <a:bodyPr>
            <a:normAutofit lnSpcReduction="10000"/>
          </a:bodyPr>
          <a:lstStyle/>
          <a:p>
            <a:r>
              <a:rPr lang="en-US" dirty="0"/>
              <a:t>AMC Banking 365 Fundamentals - The Service URL in AMC Banking Setup is reset to default for Sandbox environments.</a:t>
            </a:r>
          </a:p>
          <a:p>
            <a:r>
              <a:rPr lang="en-US" dirty="0"/>
              <a:t>Email - Outlook REST API - All email accounts of types Microsoft 365 and Current User are deleted.</a:t>
            </a:r>
          </a:p>
          <a:p>
            <a:r>
              <a:rPr lang="en-US" dirty="0"/>
              <a:t>Email - SMTP Connector - SMTP Server details are deleted.</a:t>
            </a:r>
          </a:p>
          <a:p>
            <a:endParaRPr lang="en-US" dirty="0"/>
          </a:p>
        </p:txBody>
      </p:sp>
      <p:sp>
        <p:nvSpPr>
          <p:cNvPr id="9" name="Slide Number Placeholder 13">
            <a:extLst>
              <a:ext uri="{FF2B5EF4-FFF2-40B4-BE49-F238E27FC236}">
                <a16:creationId xmlns:a16="http://schemas.microsoft.com/office/drawing/2014/main" id="{5788FD66-67B5-F4C0-FC6D-B03BB1C0B51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D7F59169-1147-E7BB-0AF0-4F45EE57EE87}"/>
              </a:ext>
            </a:extLst>
          </p:cNvPr>
          <p:cNvSpPr>
            <a:spLocks noGrp="1"/>
          </p:cNvSpPr>
          <p:nvPr>
            <p:ph type="sldNum" sz="quarter" idx="53"/>
          </p:nvPr>
        </p:nvSpPr>
        <p:spPr/>
        <p:txBody>
          <a:bodyPr/>
          <a:lstStyle/>
          <a:p>
            <a:fld id="{47FEACEE-25B4-4A2D-B147-27296E36371D}" type="slidenum">
              <a:rPr lang="en-US" altLang="zh-CN" noProof="0" smtClean="0"/>
              <a:pPr/>
              <a:t>11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A51086C-73F8-8838-0727-8D468592880C}"/>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CF802144-4BF4-7972-6B5E-2F07506DD0E3}"/>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834204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FC572-9D00-C5CC-3893-324213BB0238}"/>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2060B498-C251-DC91-F59A-26AF9B41B7A4}"/>
              </a:ext>
            </a:extLst>
          </p:cNvPr>
          <p:cNvSpPr>
            <a:spLocks noGrp="1"/>
          </p:cNvSpPr>
          <p:nvPr>
            <p:ph type="title"/>
          </p:nvPr>
        </p:nvSpPr>
        <p:spPr>
          <a:xfrm>
            <a:off x="914400" y="1060704"/>
            <a:ext cx="7132320" cy="1773936"/>
          </a:xfrm>
        </p:spPr>
        <p:txBody>
          <a:bodyPr/>
          <a:lstStyle/>
          <a:p>
            <a:r>
              <a:rPr lang="en-US" dirty="0"/>
              <a:t>Delete a sandbox</a:t>
            </a:r>
          </a:p>
        </p:txBody>
      </p:sp>
      <p:sp>
        <p:nvSpPr>
          <p:cNvPr id="43" name="Text Placeholder 42">
            <a:extLst>
              <a:ext uri="{FF2B5EF4-FFF2-40B4-BE49-F238E27FC236}">
                <a16:creationId xmlns:a16="http://schemas.microsoft.com/office/drawing/2014/main" id="{DBC158CC-DE93-AC92-0A65-76FF076ACC53}"/>
              </a:ext>
            </a:extLst>
          </p:cNvPr>
          <p:cNvSpPr>
            <a:spLocks noGrp="1"/>
          </p:cNvSpPr>
          <p:nvPr>
            <p:ph idx="1"/>
          </p:nvPr>
        </p:nvSpPr>
        <p:spPr>
          <a:xfrm>
            <a:off x="914399" y="3108959"/>
            <a:ext cx="7216878" cy="3242679"/>
          </a:xfrm>
        </p:spPr>
        <p:txBody>
          <a:bodyPr>
            <a:normAutofit/>
          </a:bodyPr>
          <a:lstStyle/>
          <a:p>
            <a:r>
              <a:rPr lang="en-US" dirty="0"/>
              <a:t>Business Central comes with the promise of keeping your data safe and available to you. We give environments a state of soft-deleted for seven days after you delete them. The same terms apply when the environment is scheduled for deletion after a trial has expired.</a:t>
            </a:r>
          </a:p>
        </p:txBody>
      </p:sp>
      <p:sp>
        <p:nvSpPr>
          <p:cNvPr id="11" name="Slide Number Placeholder 13">
            <a:extLst>
              <a:ext uri="{FF2B5EF4-FFF2-40B4-BE49-F238E27FC236}">
                <a16:creationId xmlns:a16="http://schemas.microsoft.com/office/drawing/2014/main" id="{864BAE3E-11EB-380F-97E3-D149E08AC0CA}"/>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9D58C406-A9F8-5B0E-6933-CAEB39BA87B7}"/>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940722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5A59C-6B27-7B92-9A07-3C03C7BAC6A1}"/>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F317DC08-AE93-F85F-22CB-CE452A1C3D9F}"/>
              </a:ext>
            </a:extLst>
          </p:cNvPr>
          <p:cNvSpPr>
            <a:spLocks noGrp="1"/>
          </p:cNvSpPr>
          <p:nvPr>
            <p:ph type="title"/>
          </p:nvPr>
        </p:nvSpPr>
        <p:spPr>
          <a:xfrm>
            <a:off x="914400" y="1060704"/>
            <a:ext cx="7132320" cy="1773936"/>
          </a:xfrm>
        </p:spPr>
        <p:txBody>
          <a:bodyPr/>
          <a:lstStyle/>
          <a:p>
            <a:r>
              <a:rPr lang="en-US" dirty="0"/>
              <a:t>Restoring an environment</a:t>
            </a:r>
          </a:p>
        </p:txBody>
      </p:sp>
      <p:sp>
        <p:nvSpPr>
          <p:cNvPr id="44" name="Text Placeholder 43">
            <a:extLst>
              <a:ext uri="{FF2B5EF4-FFF2-40B4-BE49-F238E27FC236}">
                <a16:creationId xmlns:a16="http://schemas.microsoft.com/office/drawing/2014/main" id="{0E0802A3-BFEE-2983-FF47-E26230B845B2}"/>
              </a:ext>
            </a:extLst>
          </p:cNvPr>
          <p:cNvSpPr>
            <a:spLocks noGrp="1"/>
          </p:cNvSpPr>
          <p:nvPr>
            <p:ph idx="56"/>
          </p:nvPr>
        </p:nvSpPr>
        <p:spPr>
          <a:xfrm>
            <a:off x="1061884" y="3108960"/>
            <a:ext cx="6984836" cy="2651760"/>
          </a:xfrm>
        </p:spPr>
        <p:txBody>
          <a:bodyPr>
            <a:normAutofit/>
          </a:bodyPr>
          <a:lstStyle/>
          <a:p>
            <a:r>
              <a:rPr lang="en-US" dirty="0"/>
              <a:t>As an administrator, you can restore an existing environment from a time in the past, within the 30-day retention period. An environment can only be restored within the same Business Central version (minor and major).</a:t>
            </a:r>
          </a:p>
          <a:p>
            <a:r>
              <a:rPr lang="en-US" dirty="0"/>
              <a:t>Permission to restore environments is limited to specific types of users: </a:t>
            </a:r>
            <a:r>
              <a:rPr lang="en-US" b="1" dirty="0"/>
              <a:t>internal</a:t>
            </a:r>
            <a:r>
              <a:rPr lang="en-US" dirty="0"/>
              <a:t> and </a:t>
            </a:r>
            <a:r>
              <a:rPr lang="en-US" b="1" dirty="0"/>
              <a:t>delegated</a:t>
            </a:r>
            <a:r>
              <a:rPr lang="en-US" dirty="0"/>
              <a:t> administrators.</a:t>
            </a:r>
          </a:p>
        </p:txBody>
      </p:sp>
      <p:sp>
        <p:nvSpPr>
          <p:cNvPr id="11" name="Slide Number Placeholder 13">
            <a:extLst>
              <a:ext uri="{FF2B5EF4-FFF2-40B4-BE49-F238E27FC236}">
                <a16:creationId xmlns:a16="http://schemas.microsoft.com/office/drawing/2014/main" id="{5227ECA9-B640-F3D8-3C3F-6F52FEEAF90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0D4CF30-5594-B0D1-15F0-3D32B199780C}"/>
              </a:ext>
            </a:extLst>
          </p:cNvPr>
          <p:cNvSpPr>
            <a:spLocks noGrp="1"/>
          </p:cNvSpPr>
          <p:nvPr>
            <p:ph type="sldNum" sz="quarter" idx="55"/>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2976174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CBDD7-74E3-672A-1EE9-65AE05835663}"/>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5FF6902B-D465-AF3B-3DC8-6AA84AB9782D}"/>
              </a:ext>
            </a:extLst>
          </p:cNvPr>
          <p:cNvSpPr>
            <a:spLocks noGrp="1"/>
          </p:cNvSpPr>
          <p:nvPr>
            <p:ph type="title"/>
          </p:nvPr>
        </p:nvSpPr>
        <p:spPr>
          <a:xfrm>
            <a:off x="914400" y="1060704"/>
            <a:ext cx="7132320" cy="1773936"/>
          </a:xfrm>
        </p:spPr>
        <p:txBody>
          <a:bodyPr/>
          <a:lstStyle/>
          <a:p>
            <a:r>
              <a:rPr lang="en-US" dirty="0"/>
              <a:t>Transfer environments between Microsoft Entra tenants</a:t>
            </a:r>
          </a:p>
        </p:txBody>
      </p:sp>
      <p:sp>
        <p:nvSpPr>
          <p:cNvPr id="44" name="Text Placeholder 43">
            <a:extLst>
              <a:ext uri="{FF2B5EF4-FFF2-40B4-BE49-F238E27FC236}">
                <a16:creationId xmlns:a16="http://schemas.microsoft.com/office/drawing/2014/main" id="{86A8D4E6-815C-09D4-4506-8639DFB27778}"/>
              </a:ext>
            </a:extLst>
          </p:cNvPr>
          <p:cNvSpPr>
            <a:spLocks noGrp="1"/>
          </p:cNvSpPr>
          <p:nvPr>
            <p:ph idx="56"/>
          </p:nvPr>
        </p:nvSpPr>
        <p:spPr>
          <a:xfrm>
            <a:off x="1061884" y="3108960"/>
            <a:ext cx="6984836" cy="2651760"/>
          </a:xfrm>
        </p:spPr>
        <p:txBody>
          <a:bodyPr>
            <a:normAutofit/>
          </a:bodyPr>
          <a:lstStyle/>
          <a:p>
            <a:r>
              <a:rPr lang="en-US" dirty="0"/>
              <a:t>In some cases, administrators might want to transfer their Dynamics 365 Business Central environment to another Microsoft Entra tenant (formerly Azure Active Directory tenant)</a:t>
            </a:r>
          </a:p>
          <a:p>
            <a:r>
              <a:rPr lang="en-US" dirty="0"/>
              <a:t>The process for transferring a Business Central environment to a different Microsoft Entra tenant is a self-service scenario. Internal administrators can request an environment transfer from the source tenant, and then accept the transfer from the target tenant</a:t>
            </a:r>
          </a:p>
        </p:txBody>
      </p:sp>
      <p:sp>
        <p:nvSpPr>
          <p:cNvPr id="11" name="Slide Number Placeholder 13">
            <a:extLst>
              <a:ext uri="{FF2B5EF4-FFF2-40B4-BE49-F238E27FC236}">
                <a16:creationId xmlns:a16="http://schemas.microsoft.com/office/drawing/2014/main" id="{460ED81B-9085-EB54-9C7B-06B26F34C52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9BEB6CE0-80BA-994D-07FB-38ECDB50A144}"/>
              </a:ext>
            </a:extLst>
          </p:cNvPr>
          <p:cNvSpPr>
            <a:spLocks noGrp="1"/>
          </p:cNvSpPr>
          <p:nvPr>
            <p:ph type="sldNum" sz="quarter" idx="55"/>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1547875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52F6-D79B-C736-609A-FAB0FEE3DA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4BED-1C19-0E7E-6E85-FF439B17DCFA}"/>
              </a:ext>
            </a:extLst>
          </p:cNvPr>
          <p:cNvSpPr>
            <a:spLocks noGrp="1"/>
          </p:cNvSpPr>
          <p:nvPr>
            <p:ph type="title"/>
          </p:nvPr>
        </p:nvSpPr>
        <p:spPr>
          <a:xfrm>
            <a:off x="914400" y="731520"/>
            <a:ext cx="3931920" cy="2103120"/>
          </a:xfrm>
        </p:spPr>
        <p:txBody>
          <a:bodyPr anchor="b" anchorCtr="0"/>
          <a:lstStyle/>
          <a:p>
            <a:r>
              <a:rPr lang="en-US" dirty="0"/>
              <a:t>Manage access using Microsoft Entra ID groups</a:t>
            </a:r>
          </a:p>
        </p:txBody>
      </p:sp>
      <p:sp>
        <p:nvSpPr>
          <p:cNvPr id="20" name="Text Placeholder 19">
            <a:extLst>
              <a:ext uri="{FF2B5EF4-FFF2-40B4-BE49-F238E27FC236}">
                <a16:creationId xmlns:a16="http://schemas.microsoft.com/office/drawing/2014/main" id="{6F314E6D-9089-B4D4-C26A-0D8E82735B07}"/>
              </a:ext>
            </a:extLst>
          </p:cNvPr>
          <p:cNvSpPr>
            <a:spLocks noGrp="1"/>
          </p:cNvSpPr>
          <p:nvPr>
            <p:ph idx="1"/>
          </p:nvPr>
        </p:nvSpPr>
        <p:spPr>
          <a:xfrm>
            <a:off x="914400" y="3108960"/>
            <a:ext cx="3931920" cy="2651760"/>
          </a:xfrm>
        </p:spPr>
        <p:txBody>
          <a:bodyPr>
            <a:normAutofit/>
          </a:bodyPr>
          <a:lstStyle/>
          <a:p>
            <a:r>
              <a:rPr lang="en-US" dirty="0"/>
              <a:t>To manage access at the environment level, you can assign an Azure Active Directory (Microsoft Entra ID) group to the environment. By assigning a Microsoft Entra ID group to an environment, only direct and indirect members of the group are granted access to the environment.</a:t>
            </a:r>
          </a:p>
        </p:txBody>
      </p:sp>
      <p:sp>
        <p:nvSpPr>
          <p:cNvPr id="9" name="Slide Number Placeholder 13">
            <a:extLst>
              <a:ext uri="{FF2B5EF4-FFF2-40B4-BE49-F238E27FC236}">
                <a16:creationId xmlns:a16="http://schemas.microsoft.com/office/drawing/2014/main" id="{4E727ABD-FD7F-6300-6C30-D52B983D926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D020FEA-9160-13C6-0BAB-C6B5EB82BC4B}"/>
              </a:ext>
            </a:extLst>
          </p:cNvPr>
          <p:cNvSpPr>
            <a:spLocks noGrp="1"/>
          </p:cNvSpPr>
          <p:nvPr>
            <p:ph type="sldNum" sz="quarter" idx="53"/>
          </p:nvPr>
        </p:nvSpPr>
        <p:spPr/>
        <p:txBody>
          <a:bodyPr/>
          <a:lstStyle/>
          <a:p>
            <a:fld id="{47FEACEE-25B4-4A2D-B147-27296E36371D}" type="slidenum">
              <a:rPr lang="en-US" altLang="zh-CN" noProof="0" smtClean="0"/>
              <a:pPr/>
              <a:t>15</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1B5F655C-462B-26E3-B17D-25ECC078A7F8}"/>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D1833FC2-35B6-E5FA-1D58-803B3D95CF09}"/>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8660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276</TotalTime>
  <Words>682</Words>
  <Application>Microsoft Office PowerPoint</Application>
  <PresentationFormat>Widescreen</PresentationFormat>
  <Paragraphs>100</Paragraphs>
  <Slides>16</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等线</vt:lpstr>
      <vt:lpstr>Abadi</vt:lpstr>
      <vt:lpstr>Arial</vt:lpstr>
      <vt:lpstr>Calibri</vt:lpstr>
      <vt:lpstr>Posterama</vt:lpstr>
      <vt:lpstr>Posterama Text SemiBold</vt:lpstr>
      <vt:lpstr>Wingdings</vt:lpstr>
      <vt:lpstr>Custom</vt:lpstr>
      <vt:lpstr>Manage environments</vt:lpstr>
      <vt:lpstr>Agenda </vt:lpstr>
      <vt:lpstr>Manage sandbox and production environments</vt:lpstr>
      <vt:lpstr>  How to create  </vt:lpstr>
      <vt:lpstr>Create environment</vt:lpstr>
      <vt:lpstr>Applied actions</vt:lpstr>
      <vt:lpstr>Create a sandbox based on a production environment</vt:lpstr>
      <vt:lpstr>Copy environments</vt:lpstr>
      <vt:lpstr>The following setups are set to a status of disabled:</vt:lpstr>
      <vt:lpstr>The following data is cleared:</vt:lpstr>
      <vt:lpstr>The following changes are made for first-party extensions:</vt:lpstr>
      <vt:lpstr>Delete a sandbox</vt:lpstr>
      <vt:lpstr>Restoring an environment</vt:lpstr>
      <vt:lpstr>Transfer environments between Microsoft Entra tenants</vt:lpstr>
      <vt:lpstr>Manage access using Microsoft Entra ID groups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3</cp:revision>
  <dcterms:created xsi:type="dcterms:W3CDTF">2026-05-18T13:07:38Z</dcterms:created>
  <dcterms:modified xsi:type="dcterms:W3CDTF">2026-06-23T14:25:39Z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