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292" r:id="rId5"/>
    <p:sldId id="299" r:id="rId6"/>
    <p:sldId id="297" r:id="rId7"/>
    <p:sldId id="261" r:id="rId8"/>
    <p:sldId id="298" r:id="rId9"/>
    <p:sldId id="276" r:id="rId10"/>
    <p:sldId id="309" r:id="rId11"/>
    <p:sldId id="310" r:id="rId12"/>
    <p:sldId id="311" r:id="rId13"/>
    <p:sldId id="289"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39" autoAdjust="0"/>
  </p:normalViewPr>
  <p:slideViewPr>
    <p:cSldViewPr snapToGrid="0" showGuides="1">
      <p:cViewPr varScale="1">
        <p:scale>
          <a:sx n="78" d="100"/>
          <a:sy n="78" d="100"/>
        </p:scale>
        <p:origin x="878" y="67"/>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5/29/2026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5/29/2026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4</a:t>
            </a:fld>
            <a:endParaRPr lang="en-US" dirty="0"/>
          </a:p>
        </p:txBody>
      </p:sp>
    </p:spTree>
    <p:extLst>
      <p:ext uri="{BB962C8B-B14F-4D97-AF65-F5344CB8AC3E}">
        <p14:creationId xmlns:p14="http://schemas.microsoft.com/office/powerpoint/2010/main" val="1891506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EBF43-F5A6-AFA2-EDBB-B90CAA61BB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F67C6-FA81-2B8C-2406-13FF97B655B3}"/>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7AA71F65-F7FA-E490-5121-3C0A3A7946C2}"/>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568C3068-39CA-578C-E52E-3EF374E2E73C}"/>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3347715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A6979-EBCA-49AB-4185-42C016C865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2B19A-30E4-A8B3-8CFF-148FACB9AD14}"/>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4FEA438A-0F88-CB69-B9BB-39F870257ECC}"/>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677F11B-351D-EB72-0552-B07AB5CAB0E9}"/>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1258495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E2551-CEB3-C4F7-F3FA-4D1576421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2CDD7-1F9C-7D04-6117-F7DF5FF8755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B1165A67-B616-2299-B183-5EB7F93A9668}"/>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8D4AD66E-C70E-0958-C573-49E6509DF789}"/>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2250460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normAutofit fontScale="90000"/>
          </a:bodyPr>
          <a:lstStyle/>
          <a:p>
            <a:r>
              <a:rPr lang="en-US" dirty="0"/>
              <a:t>MS Dynamics365 Business central human resources</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goldenpath-software.pl</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Growth strategy</a:t>
            </a:r>
          </a:p>
          <a:p>
            <a:r>
              <a:rPr lang="en-US" dirty="0"/>
              <a:t>Market analysis</a:t>
            </a:r>
          </a:p>
          <a:p>
            <a:r>
              <a:rPr lang="en-US" dirty="0"/>
              <a:t>Financial overview</a:t>
            </a:r>
          </a:p>
          <a:p>
            <a:r>
              <a:rPr lang="en-US" dirty="0"/>
              <a:t>Innovative solutions</a:t>
            </a:r>
          </a:p>
          <a:p>
            <a:r>
              <a:rPr lang="en-US" dirty="0"/>
              <a:t>Future initiatives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MS Dynamics365 Business Central human resources</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Navigating the future</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Human resources</a:t>
            </a: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a:bodyPr>
          <a:lstStyle/>
          <a:p>
            <a:pPr marL="0" indent="0">
              <a:buNone/>
            </a:pPr>
            <a:r>
              <a:rPr lang="en-US" dirty="0"/>
              <a:t>You can register and maintain employee information, such as employment contracts, confidential information, qualifications, and employee contacts. You can also register employee absences, which allows you to analyze registered absences, as necessary.</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143000" y="3200400"/>
            <a:ext cx="5029200" cy="2743200"/>
          </a:xfrm>
        </p:spPr>
        <p:txBody>
          <a:bodyPr lIns="0" anchor="t" anchorCtr="0"/>
          <a:lstStyle/>
          <a:p>
            <a:r>
              <a:rPr lang="en-US" dirty="0"/>
              <a:t>Register employees</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61872" y="2240280"/>
            <a:ext cx="5029200" cy="760288"/>
          </a:xfrm>
        </p:spPr>
        <p:txBody>
          <a:bodyPr anchor="b" anchorCtr="0"/>
          <a:lstStyle/>
          <a:p>
            <a:r>
              <a:rPr lang="en-US" dirty="0"/>
              <a:t>Unlocking new horizons</a:t>
            </a:r>
          </a:p>
        </p:txBody>
      </p:sp>
      <p:pic>
        <p:nvPicPr>
          <p:cNvPr id="12" name="Picture Placeholder 11" descr="A person sitting at their deck and a person walking to their desk">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27350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31520"/>
            <a:ext cx="3931920" cy="2103120"/>
          </a:xfrm>
        </p:spPr>
        <p:txBody>
          <a:bodyPr anchor="b" anchorCtr="0"/>
          <a:lstStyle/>
          <a:p>
            <a:r>
              <a:rPr lang="en-US" altLang="zh-CN" dirty="0"/>
              <a:t>Employee card</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400" y="3108960"/>
            <a:ext cx="3931920" cy="2651760"/>
          </a:xfrm>
        </p:spPr>
        <p:txBody>
          <a:bodyPr>
            <a:normAutofit fontScale="92500" lnSpcReduction="20000"/>
          </a:bodyPr>
          <a:lstStyle/>
          <a:p>
            <a:r>
              <a:rPr lang="en-US" dirty="0"/>
              <a:t>On the employee card, you can set up information, such as union membership, relatives, and contracts for the employee. You can use alternate addresses to keep track of your employees’ location.</a:t>
            </a:r>
          </a:p>
          <a:p>
            <a:r>
              <a:rPr lang="en-US" dirty="0"/>
              <a:t>You can reimburse employees for their expenses during business activities. For this purpose, you must fill in the fields on the </a:t>
            </a:r>
            <a:r>
              <a:rPr lang="en-US" b="1" dirty="0"/>
              <a:t>Payments </a:t>
            </a:r>
            <a:r>
              <a:rPr lang="en-US" b="1" dirty="0" err="1"/>
              <a:t>FastTab</a:t>
            </a:r>
            <a:r>
              <a:rPr lang="en-US" dirty="0"/>
              <a:t> on the </a:t>
            </a:r>
            <a:r>
              <a:rPr lang="en-US" b="1" dirty="0"/>
              <a:t>Employee Card</a:t>
            </a:r>
            <a:r>
              <a:rPr lang="en-US" dirty="0"/>
              <a:t> page.</a:t>
            </a:r>
          </a:p>
        </p:txBody>
      </p:sp>
      <p:pic>
        <p:nvPicPr>
          <p:cNvPr id="12" name="Picture Placeholder 11" descr="Three people having a discussion at a table">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7755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F0BF7-B214-F478-A891-8EC5BF0562BF}"/>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C8D5319E-E815-D833-00CA-E3D49EEF79A0}"/>
              </a:ext>
            </a:extLst>
          </p:cNvPr>
          <p:cNvSpPr>
            <a:spLocks noGrp="1"/>
          </p:cNvSpPr>
          <p:nvPr>
            <p:ph type="title"/>
          </p:nvPr>
        </p:nvSpPr>
        <p:spPr>
          <a:xfrm>
            <a:off x="896065" y="194753"/>
            <a:ext cx="10527400" cy="1036517"/>
          </a:xfrm>
        </p:spPr>
        <p:txBody>
          <a:bodyPr/>
          <a:lstStyle/>
          <a:p>
            <a:r>
              <a:rPr lang="en-US" dirty="0"/>
              <a:t>Employee card</a:t>
            </a:r>
          </a:p>
        </p:txBody>
      </p:sp>
      <p:sp>
        <p:nvSpPr>
          <p:cNvPr id="43" name="Text Placeholder 42">
            <a:extLst>
              <a:ext uri="{FF2B5EF4-FFF2-40B4-BE49-F238E27FC236}">
                <a16:creationId xmlns:a16="http://schemas.microsoft.com/office/drawing/2014/main" id="{D9B19B0D-9766-B92D-8C77-FD6724ABF452}"/>
              </a:ext>
            </a:extLst>
          </p:cNvPr>
          <p:cNvSpPr>
            <a:spLocks noGrp="1"/>
          </p:cNvSpPr>
          <p:nvPr>
            <p:ph idx="1"/>
          </p:nvPr>
        </p:nvSpPr>
        <p:spPr>
          <a:xfrm>
            <a:off x="896065" y="1393315"/>
            <a:ext cx="8621561" cy="819814"/>
          </a:xfrm>
        </p:spPr>
        <p:txBody>
          <a:bodyPr>
            <a:normAutofit/>
          </a:bodyPr>
          <a:lstStyle/>
          <a:p>
            <a:r>
              <a:rPr lang="en-US" dirty="0"/>
              <a:t>You must first register each employee by creating a card with all the core and related information.</a:t>
            </a:r>
          </a:p>
        </p:txBody>
      </p:sp>
      <p:sp>
        <p:nvSpPr>
          <p:cNvPr id="11" name="Slide Number Placeholder 13">
            <a:extLst>
              <a:ext uri="{FF2B5EF4-FFF2-40B4-BE49-F238E27FC236}">
                <a16:creationId xmlns:a16="http://schemas.microsoft.com/office/drawing/2014/main" id="{19E1EEF8-568B-2D82-FDCD-60673B4CD8C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F9D09B67-B40B-311A-5BE2-A39D795B3015}"/>
              </a:ext>
            </a:extLst>
          </p:cNvPr>
          <p:cNvSpPr>
            <a:spLocks noGrp="1"/>
          </p:cNvSpPr>
          <p:nvPr>
            <p:ph type="sldNum" sz="quarter" idx="55"/>
          </p:nvPr>
        </p:nvSpPr>
        <p:spPr/>
        <p:txBody>
          <a:bodyPr/>
          <a:lstStyle/>
          <a:p>
            <a:fld id="{47FEACEE-25B4-4A2D-B147-27296E36371D}" type="slidenum">
              <a:rPr lang="en-US" altLang="zh-CN" noProof="0" smtClean="0"/>
              <a:pPr/>
              <a:t>7</a:t>
            </a:fld>
            <a:endParaRPr lang="en-US" altLang="zh-CN" noProof="0" dirty="0"/>
          </a:p>
        </p:txBody>
      </p:sp>
      <p:pic>
        <p:nvPicPr>
          <p:cNvPr id="7" name="Content Placeholder 6">
            <a:extLst>
              <a:ext uri="{FF2B5EF4-FFF2-40B4-BE49-F238E27FC236}">
                <a16:creationId xmlns:a16="http://schemas.microsoft.com/office/drawing/2014/main" id="{72DA9FF6-2B07-070B-4D86-B433E69E9757}"/>
              </a:ext>
            </a:extLst>
          </p:cNvPr>
          <p:cNvPicPr>
            <a:picLocks noGrp="1" noChangeAspect="1"/>
          </p:cNvPicPr>
          <p:nvPr>
            <p:ph idx="56"/>
          </p:nvPr>
        </p:nvPicPr>
        <p:blipFill>
          <a:blip r:embed="rId3"/>
          <a:stretch>
            <a:fillRect/>
          </a:stretch>
        </p:blipFill>
        <p:spPr>
          <a:xfrm>
            <a:off x="896065" y="2107020"/>
            <a:ext cx="7150973" cy="3611311"/>
          </a:xfrm>
          <a:prstGeom prst="rect">
            <a:avLst/>
          </a:prstGeom>
        </p:spPr>
      </p:pic>
    </p:spTree>
    <p:extLst>
      <p:ext uri="{BB962C8B-B14F-4D97-AF65-F5344CB8AC3E}">
        <p14:creationId xmlns:p14="http://schemas.microsoft.com/office/powerpoint/2010/main" val="2504006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E893D-6FCB-9D86-2194-9D28249C237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52E35A5-2F60-2E3D-3985-086C98227461}"/>
              </a:ext>
            </a:extLst>
          </p:cNvPr>
          <p:cNvSpPr>
            <a:spLocks noGrp="1"/>
          </p:cNvSpPr>
          <p:nvPr>
            <p:ph type="title"/>
          </p:nvPr>
        </p:nvSpPr>
        <p:spPr>
          <a:xfrm>
            <a:off x="914399" y="731520"/>
            <a:ext cx="4227871" cy="2103120"/>
          </a:xfrm>
        </p:spPr>
        <p:txBody>
          <a:bodyPr anchor="b" anchorCtr="0"/>
          <a:lstStyle/>
          <a:p>
            <a:r>
              <a:rPr lang="en-US" dirty="0"/>
              <a:t>Manage employee absence</a:t>
            </a:r>
          </a:p>
        </p:txBody>
      </p:sp>
      <p:sp>
        <p:nvSpPr>
          <p:cNvPr id="20" name="Text Placeholder 19">
            <a:extLst>
              <a:ext uri="{FF2B5EF4-FFF2-40B4-BE49-F238E27FC236}">
                <a16:creationId xmlns:a16="http://schemas.microsoft.com/office/drawing/2014/main" id="{11F4E609-46DD-74E1-49C0-2581492F6A6C}"/>
              </a:ext>
            </a:extLst>
          </p:cNvPr>
          <p:cNvSpPr>
            <a:spLocks noGrp="1"/>
          </p:cNvSpPr>
          <p:nvPr>
            <p:ph idx="1"/>
          </p:nvPr>
        </p:nvSpPr>
        <p:spPr>
          <a:xfrm>
            <a:off x="914400" y="3108960"/>
            <a:ext cx="3931920" cy="2651760"/>
          </a:xfrm>
        </p:spPr>
        <p:txBody>
          <a:bodyPr>
            <a:normAutofit fontScale="92500" lnSpcReduction="20000"/>
          </a:bodyPr>
          <a:lstStyle/>
          <a:p>
            <a:r>
              <a:rPr lang="en-US" dirty="0"/>
              <a:t>On the employee card, you can set up information, such as union membership, relatives, and contracts for the employee. You can use alternate addresses to keep track of your employees’ location.</a:t>
            </a:r>
          </a:p>
          <a:p>
            <a:r>
              <a:rPr lang="en-US" dirty="0"/>
              <a:t>You can reimburse employees for their expenses during business activities. For this purpose, you must fill in the fields on the </a:t>
            </a:r>
            <a:r>
              <a:rPr lang="en-US" b="1" dirty="0"/>
              <a:t>Payments </a:t>
            </a:r>
            <a:r>
              <a:rPr lang="en-US" b="1" dirty="0" err="1"/>
              <a:t>FastTab</a:t>
            </a:r>
            <a:r>
              <a:rPr lang="en-US" dirty="0"/>
              <a:t> on the </a:t>
            </a:r>
            <a:r>
              <a:rPr lang="en-US" b="1" dirty="0"/>
              <a:t>Employee Card</a:t>
            </a:r>
            <a:r>
              <a:rPr lang="en-US" dirty="0"/>
              <a:t> page.</a:t>
            </a:r>
          </a:p>
        </p:txBody>
      </p:sp>
      <p:pic>
        <p:nvPicPr>
          <p:cNvPr id="12" name="Picture Placeholder 11" descr="Three people having a discussion at a table">
            <a:extLst>
              <a:ext uri="{FF2B5EF4-FFF2-40B4-BE49-F238E27FC236}">
                <a16:creationId xmlns:a16="http://schemas.microsoft.com/office/drawing/2014/main" id="{9BF3DCA1-FD23-9899-BA02-BAB45BD86C46}"/>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CC24BEA9-1AEC-9C9E-9C86-F507FFBBF710}"/>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C8D0A606-2691-F85D-E467-6C751122B405}"/>
              </a:ext>
            </a:extLst>
          </p:cNvPr>
          <p:cNvSpPr>
            <a:spLocks noGrp="1"/>
          </p:cNvSpPr>
          <p:nvPr>
            <p:ph type="sldNum" sz="quarter" idx="53"/>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3186677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34ED4-CFC9-CD71-BBF8-E183C982DAB4}"/>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31204E90-BB29-3508-DDBF-17B444500464}"/>
              </a:ext>
            </a:extLst>
          </p:cNvPr>
          <p:cNvSpPr>
            <a:spLocks noGrp="1"/>
          </p:cNvSpPr>
          <p:nvPr>
            <p:ph type="title"/>
          </p:nvPr>
        </p:nvSpPr>
        <p:spPr>
          <a:xfrm>
            <a:off x="896065" y="194753"/>
            <a:ext cx="10527400" cy="1036517"/>
          </a:xfrm>
        </p:spPr>
        <p:txBody>
          <a:bodyPr/>
          <a:lstStyle/>
          <a:p>
            <a:r>
              <a:rPr lang="en-US" dirty="0"/>
              <a:t>Employee card</a:t>
            </a:r>
          </a:p>
        </p:txBody>
      </p:sp>
      <p:sp>
        <p:nvSpPr>
          <p:cNvPr id="43" name="Text Placeholder 42">
            <a:extLst>
              <a:ext uri="{FF2B5EF4-FFF2-40B4-BE49-F238E27FC236}">
                <a16:creationId xmlns:a16="http://schemas.microsoft.com/office/drawing/2014/main" id="{1CF4C284-4D69-F110-D091-8B5E62473BF7}"/>
              </a:ext>
            </a:extLst>
          </p:cNvPr>
          <p:cNvSpPr>
            <a:spLocks noGrp="1"/>
          </p:cNvSpPr>
          <p:nvPr>
            <p:ph idx="1"/>
          </p:nvPr>
        </p:nvSpPr>
        <p:spPr>
          <a:xfrm>
            <a:off x="896065" y="1393315"/>
            <a:ext cx="8621561" cy="819814"/>
          </a:xfrm>
        </p:spPr>
        <p:txBody>
          <a:bodyPr>
            <a:normAutofit/>
          </a:bodyPr>
          <a:lstStyle/>
          <a:p>
            <a:r>
              <a:rPr lang="en-US" dirty="0"/>
              <a:t>You must record the absence on the </a:t>
            </a:r>
            <a:r>
              <a:rPr lang="en-US" b="1" dirty="0"/>
              <a:t>Absence Registration</a:t>
            </a:r>
            <a:r>
              <a:rPr lang="en-US" dirty="0"/>
              <a:t> page. It can then be viewed in different ways for analysis and reporting needs</a:t>
            </a:r>
          </a:p>
        </p:txBody>
      </p:sp>
      <p:sp>
        <p:nvSpPr>
          <p:cNvPr id="11" name="Slide Number Placeholder 13">
            <a:extLst>
              <a:ext uri="{FF2B5EF4-FFF2-40B4-BE49-F238E27FC236}">
                <a16:creationId xmlns:a16="http://schemas.microsoft.com/office/drawing/2014/main" id="{8E45EFD0-17AD-A487-5B06-B1F75067D12C}"/>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2BCC3BF-0C4D-28F4-6BD8-7D598BDA493E}"/>
              </a:ext>
            </a:extLst>
          </p:cNvPr>
          <p:cNvSpPr>
            <a:spLocks noGrp="1"/>
          </p:cNvSpPr>
          <p:nvPr>
            <p:ph type="sldNum" sz="quarter" idx="55"/>
          </p:nvPr>
        </p:nvSpPr>
        <p:spPr/>
        <p:txBody>
          <a:bodyPr/>
          <a:lstStyle/>
          <a:p>
            <a:fld id="{47FEACEE-25B4-4A2D-B147-27296E36371D}" type="slidenum">
              <a:rPr lang="en-US" altLang="zh-CN" noProof="0" smtClean="0"/>
              <a:pPr/>
              <a:t>9</a:t>
            </a:fld>
            <a:endParaRPr lang="en-US" altLang="zh-CN" noProof="0" dirty="0"/>
          </a:p>
        </p:txBody>
      </p:sp>
      <p:pic>
        <p:nvPicPr>
          <p:cNvPr id="6" name="Content Placeholder 5">
            <a:extLst>
              <a:ext uri="{FF2B5EF4-FFF2-40B4-BE49-F238E27FC236}">
                <a16:creationId xmlns:a16="http://schemas.microsoft.com/office/drawing/2014/main" id="{5AB87C8E-5CF6-3642-4546-20971E1EB048}"/>
              </a:ext>
            </a:extLst>
          </p:cNvPr>
          <p:cNvPicPr>
            <a:picLocks noGrp="1" noChangeAspect="1"/>
          </p:cNvPicPr>
          <p:nvPr>
            <p:ph idx="56"/>
          </p:nvPr>
        </p:nvPicPr>
        <p:blipFill>
          <a:blip r:embed="rId3"/>
          <a:stretch>
            <a:fillRect/>
          </a:stretch>
        </p:blipFill>
        <p:spPr>
          <a:xfrm>
            <a:off x="997483" y="2213130"/>
            <a:ext cx="7608789" cy="2073736"/>
          </a:xfrm>
          <a:prstGeom prst="rect">
            <a:avLst/>
          </a:prstGeom>
        </p:spPr>
      </p:pic>
    </p:spTree>
    <p:extLst>
      <p:ext uri="{BB962C8B-B14F-4D97-AF65-F5344CB8AC3E}">
        <p14:creationId xmlns:p14="http://schemas.microsoft.com/office/powerpoint/2010/main" val="2169865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Oleksandr Fishchuk</a:t>
            </a:r>
          </a:p>
          <a:p>
            <a:pPr lvl="0"/>
            <a:r>
              <a:rPr lang="en-US" dirty="0"/>
              <a:t>ofishchuk@goldenpath-software.pl</a:t>
            </a:r>
          </a:p>
          <a:p>
            <a:pPr lvl="0"/>
            <a:r>
              <a:rPr lang="en-US" dirty="0"/>
              <a:t>www.goldenpath-software.pl</a:t>
            </a:r>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3.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{BE99236D-1AF8-4D1D-A489-9A37D2A989FD}TF63aebcec-8e39-4664-940a-dd6c2f00c54d020a9832_win32-3cdd3ee32610</Template>
  <TotalTime>49</TotalTime>
  <Words>299</Words>
  <Application>Microsoft Office PowerPoint</Application>
  <PresentationFormat>Widescreen</PresentationFormat>
  <Paragraphs>45</Paragraphs>
  <Slides>10</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等线</vt:lpstr>
      <vt:lpstr>Abadi</vt:lpstr>
      <vt:lpstr>Arial</vt:lpstr>
      <vt:lpstr>Calibri</vt:lpstr>
      <vt:lpstr>Posterama</vt:lpstr>
      <vt:lpstr>Posterama Text SemiBold</vt:lpstr>
      <vt:lpstr>Custom</vt:lpstr>
      <vt:lpstr>MS Dynamics365 Business central human resources</vt:lpstr>
      <vt:lpstr>Agenda </vt:lpstr>
      <vt:lpstr>MS Dynamics365 Business Central human resources</vt:lpstr>
      <vt:lpstr>Human resources   </vt:lpstr>
      <vt:lpstr>Register employees</vt:lpstr>
      <vt:lpstr>Employee card</vt:lpstr>
      <vt:lpstr>Employee card</vt:lpstr>
      <vt:lpstr>Manage employee absence</vt:lpstr>
      <vt:lpstr>Employee card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Oleksandr Fishchuk</dc:creator>
  <cp:lastModifiedBy>Oleksandr Fishchuk</cp:lastModifiedBy>
  <cp:revision>4</cp:revision>
  <dcterms:created xsi:type="dcterms:W3CDTF">2026-05-18T13:07:38Z</dcterms:created>
  <dcterms:modified xsi:type="dcterms:W3CDTF">2026-05-29T15:04:54Z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