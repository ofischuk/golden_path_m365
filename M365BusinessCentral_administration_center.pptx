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92" r:id="rId5"/>
    <p:sldId id="299" r:id="rId6"/>
    <p:sldId id="297" r:id="rId7"/>
    <p:sldId id="261" r:id="rId8"/>
    <p:sldId id="298" r:id="rId9"/>
    <p:sldId id="279" r:id="rId10"/>
    <p:sldId id="276" r:id="rId11"/>
    <p:sldId id="293" r:id="rId12"/>
    <p:sldId id="303" r:id="rId13"/>
    <p:sldId id="301" r:id="rId14"/>
    <p:sldId id="304" r:id="rId15"/>
    <p:sldId id="302" r:id="rId16"/>
    <p:sldId id="305" r:id="rId17"/>
    <p:sldId id="289"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39" autoAdjust="0"/>
  </p:normalViewPr>
  <p:slideViewPr>
    <p:cSldViewPr snapToGrid="0" showGuides="1">
      <p:cViewPr varScale="1">
        <p:scale>
          <a:sx n="78" d="100"/>
          <a:sy n="78" d="100"/>
        </p:scale>
        <p:origin x="475" y="62"/>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lgn="ctr">
            <a:defRPr b="1"/>
          </a:pPr>
          <a:r>
            <a:rPr lang="en-US" dirty="0">
              <a:solidFill>
                <a:schemeClr val="accent2">
                  <a:lumMod val="60000"/>
                  <a:lumOff val="40000"/>
                </a:schemeClr>
              </a:solidFill>
              <a:latin typeface="+mn-lt"/>
            </a:rPr>
            <a:t>Option 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pPr algn="ctr"/>
          <a:r>
            <a:rPr lang="en-US" sz="1800" dirty="0">
              <a:latin typeface="+mn-lt"/>
            </a:rPr>
            <a:t>GDAP</a:t>
          </a: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lgn="ctr">
            <a:defRPr b="1"/>
          </a:pPr>
          <a:r>
            <a:rPr lang="en-US" dirty="0">
              <a:solidFill>
                <a:schemeClr val="accent2">
                  <a:lumMod val="60000"/>
                  <a:lumOff val="40000"/>
                </a:schemeClr>
              </a:solidFill>
              <a:latin typeface="+mn-lt"/>
            </a:rPr>
            <a:t>Option 2</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pPr algn="ctr"/>
          <a:r>
            <a:rPr lang="en-US" sz="1800" b="0" i="0" dirty="0"/>
            <a:t>Admin’s job queue entries </a:t>
          </a:r>
          <a:endParaRPr lang="en-US" sz="1800" b="0" dirty="0">
            <a:latin typeface="+mn-lt"/>
          </a:endParaRP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lgn="ctr">
            <a:defRPr b="1"/>
          </a:pPr>
          <a:r>
            <a:rPr lang="en-US" dirty="0">
              <a:solidFill>
                <a:schemeClr val="accent2">
                  <a:lumMod val="60000"/>
                  <a:lumOff val="40000"/>
                </a:schemeClr>
              </a:solidFill>
              <a:latin typeface="+mn-lt"/>
            </a:rPr>
            <a:t>Option 3</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pPr algn="ctr"/>
          <a:r>
            <a:rPr lang="en-US" sz="1800" dirty="0">
              <a:latin typeface="+mn-lt"/>
            </a:rPr>
            <a:t> Delegated permissions as the partner</a:t>
          </a: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D2FE027B-4161-41E1-B4D4-02AECB2E3FA0}">
      <dgm:prSet phldrT="[Text]" phldr="0"/>
      <dgm:spPr/>
      <dgm:t>
        <a:bodyPr/>
        <a:lstStyle/>
        <a:p>
          <a:pPr algn="ctr">
            <a:defRPr b="1"/>
          </a:pPr>
          <a:r>
            <a:rPr lang="en-US" dirty="0">
              <a:solidFill>
                <a:schemeClr val="accent2">
                  <a:lumMod val="60000"/>
                  <a:lumOff val="40000"/>
                </a:schemeClr>
              </a:solidFill>
              <a:latin typeface="+mn-lt"/>
            </a:rPr>
            <a:t>Option 4</a:t>
          </a:r>
        </a:p>
      </dgm:t>
    </dgm:pt>
    <dgm:pt modelId="{88680CFE-3CE0-4842-B3D3-716D3B671238}" type="parTrans" cxnId="{4F4F82A2-02F1-492B-96C1-46C070BEFCE3}">
      <dgm:prSet/>
      <dgm:spPr/>
      <dgm:t>
        <a:bodyPr/>
        <a:lstStyle/>
        <a:p>
          <a:pPr algn="ctr"/>
          <a:endParaRPr lang="en-US">
            <a:latin typeface="+mn-lt"/>
          </a:endParaRPr>
        </a:p>
      </dgm:t>
    </dgm:pt>
    <dgm:pt modelId="{4D59E06B-629C-40B5-96D3-423B7A56C945}" type="sibTrans" cxnId="{4F4F82A2-02F1-492B-96C1-46C070BEFCE3}">
      <dgm:prSet/>
      <dgm:spPr/>
      <dgm:t>
        <a:bodyPr/>
        <a:lstStyle/>
        <a:p>
          <a:pPr algn="ctr"/>
          <a:endParaRPr lang="en-US">
            <a:latin typeface="+mn-lt"/>
          </a:endParaRPr>
        </a:p>
      </dgm:t>
    </dgm:pt>
    <dgm:pt modelId="{2BE415B7-7185-4956-8487-237B40BC0EE5}">
      <dgm:prSet phldrT="[Text]" phldr="0" custT="1"/>
      <dgm:spPr/>
      <dgm:t>
        <a:bodyPr/>
        <a:lstStyle/>
        <a:p>
          <a:pPr algn="ctr"/>
          <a:r>
            <a:rPr lang="en-US" sz="1800" dirty="0">
              <a:latin typeface="+mn-lt"/>
            </a:rPr>
            <a:t>Delegated permissions as the internal admin</a:t>
          </a:r>
        </a:p>
      </dgm:t>
    </dgm:pt>
    <dgm:pt modelId="{A38E847E-0D1D-4F40-9A71-4D5999ADE08B}" type="parTrans" cxnId="{CB32A309-9CA9-4554-941D-519A91A9E733}">
      <dgm:prSet/>
      <dgm:spPr/>
      <dgm:t>
        <a:bodyPr/>
        <a:lstStyle/>
        <a:p>
          <a:pPr algn="ctr"/>
          <a:endParaRPr lang="en-US">
            <a:latin typeface="+mn-lt"/>
          </a:endParaRPr>
        </a:p>
      </dgm:t>
    </dgm:pt>
    <dgm:pt modelId="{F0D1C61C-E3F2-49BA-A2D8-C04A81308E5D}" type="sibTrans" cxnId="{CB32A309-9CA9-4554-941D-519A91A9E733}">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85195"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1</a:t>
          </a:r>
        </a:p>
      </dsp:txBody>
      <dsp:txXfrm>
        <a:off x="185195" y="2027215"/>
        <a:ext cx="2679725" cy="426583"/>
      </dsp:txXfrm>
    </dsp:sp>
    <dsp:sp modelId="{BA29120C-7C6B-4F62-9079-4AD528BC0744}">
      <dsp:nvSpPr>
        <dsp:cNvPr id="0" name=""/>
        <dsp:cNvSpPr/>
      </dsp:nvSpPr>
      <dsp:spPr>
        <a:xfrm>
          <a:off x="2486"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GDAP</a:t>
          </a:r>
        </a:p>
      </dsp:txBody>
      <dsp:txXfrm>
        <a:off x="33906" y="558042"/>
        <a:ext cx="2982302" cy="580810"/>
      </dsp:txXfrm>
    </dsp:sp>
    <dsp:sp modelId="{A95DB80B-444A-4D69-B205-3A801BB8524A}">
      <dsp:nvSpPr>
        <dsp:cNvPr id="0" name=""/>
        <dsp:cNvSpPr/>
      </dsp:nvSpPr>
      <dsp:spPr>
        <a:xfrm>
          <a:off x="1525057"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951377"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2</a:t>
          </a:r>
        </a:p>
      </dsp:txBody>
      <dsp:txXfrm>
        <a:off x="1951377" y="1321276"/>
        <a:ext cx="2679725" cy="426583"/>
      </dsp:txXfrm>
    </dsp:sp>
    <dsp:sp modelId="{FA19A0AA-8B0B-4AA8-A80D-08CFFDD3F112}">
      <dsp:nvSpPr>
        <dsp:cNvPr id="0" name=""/>
        <dsp:cNvSpPr/>
      </dsp:nvSpPr>
      <dsp:spPr>
        <a:xfrm>
          <a:off x="1496744"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768669" y="2604801"/>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0" i="0" kern="1200" dirty="0"/>
            <a:t>Admin’s job queue entries </a:t>
          </a:r>
          <a:endParaRPr lang="en-US" sz="1800" b="0" kern="1200" dirty="0">
            <a:latin typeface="+mn-lt"/>
          </a:endParaRPr>
        </a:p>
      </dsp:txBody>
      <dsp:txXfrm>
        <a:off x="1800089" y="2636221"/>
        <a:ext cx="2982302" cy="580810"/>
      </dsp:txXfrm>
    </dsp:sp>
    <dsp:sp modelId="{DBD74D6B-057A-432C-9067-BF618C19EB2A}">
      <dsp:nvSpPr>
        <dsp:cNvPr id="0" name=""/>
        <dsp:cNvSpPr/>
      </dsp:nvSpPr>
      <dsp:spPr>
        <a:xfrm>
          <a:off x="3291240"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3717560"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3</a:t>
          </a:r>
        </a:p>
      </dsp:txBody>
      <dsp:txXfrm>
        <a:off x="3717560" y="2027215"/>
        <a:ext cx="2679725" cy="426583"/>
      </dsp:txXfrm>
    </dsp:sp>
    <dsp:sp modelId="{0F979253-FD39-4920-BFCA-78C564B167EA}">
      <dsp:nvSpPr>
        <dsp:cNvPr id="0" name=""/>
        <dsp:cNvSpPr/>
      </dsp:nvSpPr>
      <dsp:spPr>
        <a:xfrm>
          <a:off x="3262927"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3534851" y="325482"/>
          <a:ext cx="3045142" cy="844791"/>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 Delegated permissions as the partner</a:t>
          </a:r>
        </a:p>
      </dsp:txBody>
      <dsp:txXfrm>
        <a:off x="3576090" y="366721"/>
        <a:ext cx="2962664" cy="762313"/>
      </dsp:txXfrm>
    </dsp:sp>
    <dsp:sp modelId="{DCAE8A46-752C-4E82-84CE-E790E1F2918E}">
      <dsp:nvSpPr>
        <dsp:cNvPr id="0" name=""/>
        <dsp:cNvSpPr/>
      </dsp:nvSpPr>
      <dsp:spPr>
        <a:xfrm>
          <a:off x="5057422"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5483742"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4</a:t>
          </a:r>
        </a:p>
      </dsp:txBody>
      <dsp:txXfrm>
        <a:off x="5483742" y="1321276"/>
        <a:ext cx="2679725" cy="426583"/>
      </dsp:txXfrm>
    </dsp:sp>
    <dsp:sp modelId="{B6459BF8-D2C3-4018-9C28-98667DC203F4}">
      <dsp:nvSpPr>
        <dsp:cNvPr id="0" name=""/>
        <dsp:cNvSpPr/>
      </dsp:nvSpPr>
      <dsp:spPr>
        <a:xfrm>
          <a:off x="5029109"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5301034" y="2604801"/>
          <a:ext cx="3045142" cy="844791"/>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Delegated permissions as the internal admin</a:t>
          </a:r>
        </a:p>
      </dsp:txBody>
      <dsp:txXfrm>
        <a:off x="5342273" y="2646040"/>
        <a:ext cx="2962664" cy="762313"/>
      </dsp:txXfrm>
    </dsp:sp>
    <dsp:sp modelId="{086FB9B1-82B2-4197-8B33-6E7FF94F8D2E}">
      <dsp:nvSpPr>
        <dsp:cNvPr id="0" name=""/>
        <dsp:cNvSpPr/>
      </dsp:nvSpPr>
      <dsp:spPr>
        <a:xfrm>
          <a:off x="6823605"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6795292"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5/26/2026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5/26/2026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dirty="0"/>
          </a:p>
        </p:txBody>
      </p:sp>
    </p:spTree>
    <p:extLst>
      <p:ext uri="{BB962C8B-B14F-4D97-AF65-F5344CB8AC3E}">
        <p14:creationId xmlns:p14="http://schemas.microsoft.com/office/powerpoint/2010/main" val="1891506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B0862-08E7-9E72-3A8C-893DB7E2E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84090E-F2FA-E0EE-7AED-D374621965DB}"/>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2B627D34-E772-6D2B-3A7B-D2F54A5A3E34}"/>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3B438FA9-81AA-D9F2-7C26-A946215B739C}"/>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1205803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CE351-D547-E59A-579A-9577B8C52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E5027-21D4-48DF-182A-B6CBDF92CFB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E5E1C011-8A8E-1716-BBEE-5AAD8E47E297}"/>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86514F9-9D1B-3248-A1AC-8AAB111E30F3}"/>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3589832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C2215-9386-D729-EDBD-2EA2BC4D6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9F556-C94B-9D0D-E3D8-6A7E219023DF}"/>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825EF17-C7B5-75F1-1003-03A3404FABE7}"/>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0586DF1-C27A-87B9-FE1C-D3C2AD116EE8}"/>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1985985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7353C-1BC7-4581-3D7A-60CD7A910A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427E3-22CF-CB8E-B314-7F43325D5D32}"/>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9B79FF99-8F06-6603-38C5-AFDB2F4EF2F8}"/>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A7B0CB5-9E74-69A8-E9FA-B70108A0CB90}"/>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dirty="0"/>
          </a:p>
        </p:txBody>
      </p:sp>
    </p:spTree>
    <p:extLst>
      <p:ext uri="{BB962C8B-B14F-4D97-AF65-F5344CB8AC3E}">
        <p14:creationId xmlns:p14="http://schemas.microsoft.com/office/powerpoint/2010/main" val="3709835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96E47-7EA3-AD47-5CB9-F9BC53A58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B097A-3357-B8F3-E679-21C026CAB4E1}"/>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71DD52B5-89F7-058C-110D-55FFCF1D0E82}"/>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E809AF55-3C80-44D6-2DE8-68146551FDFF}"/>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190081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altLang="zh-CN" dirty="0"/>
              <a:t>Administration center</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err="1"/>
              <a:t>Goldenpath</a:t>
            </a:r>
            <a:r>
              <a:rPr lang="en-US" dirty="0"/>
              <a:t>-software</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Growth strategy</a:t>
            </a:r>
          </a:p>
          <a:p>
            <a:r>
              <a:rPr lang="en-US" dirty="0"/>
              <a:t>Market analysis</a:t>
            </a:r>
          </a:p>
          <a:p>
            <a:r>
              <a:rPr lang="en-US" dirty="0"/>
              <a:t>Financial overview</a:t>
            </a:r>
          </a:p>
          <a:p>
            <a:r>
              <a:rPr lang="en-US" dirty="0"/>
              <a:t>Innovative solutions</a:t>
            </a:r>
          </a:p>
          <a:p>
            <a:r>
              <a:rPr lang="en-US" dirty="0"/>
              <a:t>Future initiatives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Deploy and administration of MS Dynamics365 Business Central</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Navigating the future</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Administration center</a:t>
            </a:r>
            <a:br>
              <a:rPr lang="en-US" dirty="0"/>
            </a:br>
            <a:br>
              <a:rPr lang="en-US" dirty="0"/>
            </a:br>
            <a:r>
              <a:rPr lang="en-US" sz="2800" dirty="0" err="1"/>
              <a:t>admin.cloud.microsoft</a:t>
            </a:r>
            <a:br>
              <a:rPr lang="en-US" dirty="0"/>
            </a:b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r>
              <a:rPr lang="en-US" dirty="0"/>
              <a:t>The Business Central administration center provides a portal for administrators to perform administrative tasks for a Business Central tenant</a:t>
            </a:r>
          </a:p>
          <a:p>
            <a:r>
              <a:rPr lang="en-US" dirty="0"/>
              <a:t>The customers' users with the Dynamics 365 admin role assigned to them by their administrator in the Microsoft 365 admin center (https://admin.microsoft.com) </a:t>
            </a:r>
          </a:p>
          <a:p>
            <a:r>
              <a:rPr lang="en-US" dirty="0"/>
              <a:t>Users of Microsoft Entra ID center (https://aad.portal.azure.com) can access the Business Central admin center</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143000" y="3200400"/>
            <a:ext cx="5029200" cy="2743200"/>
          </a:xfrm>
        </p:spPr>
        <p:txBody>
          <a:bodyPr lIns="0" anchor="t" anchorCtr="0"/>
          <a:lstStyle/>
          <a:p>
            <a:r>
              <a:rPr lang="en-US" dirty="0"/>
              <a:t>Market expansion</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735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Admin credentials</a:t>
            </a:r>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2047530939"/>
              </p:ext>
            </p:extLst>
          </p:nvPr>
        </p:nvGraphicFramePr>
        <p:xfrm>
          <a:off x="914400" y="2341563"/>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124602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altLang="zh-CN" dirty="0"/>
              <a:t>GDAP</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3108960"/>
            <a:ext cx="3931920" cy="2651760"/>
          </a:xfrm>
        </p:spPr>
        <p:txBody>
          <a:bodyPr>
            <a:normAutofit lnSpcReduction="10000"/>
          </a:bodyPr>
          <a:lstStyle/>
          <a:p>
            <a:r>
              <a:rPr lang="en-US" dirty="0"/>
              <a:t>Granular delegated admin privileges (GDAP) is a security feature of Microsoft Partner Center that provides partners with least-privileged, granular, and time-bound access to their customers' workloads in production and sandbox environments. This least-privileged access must be explicitly granted to partners by their customers.</a:t>
            </a:r>
          </a:p>
        </p:txBody>
      </p:sp>
      <p:pic>
        <p:nvPicPr>
          <p:cNvPr id="12" name="Picture Placeholder 11" descr="Three people having a discussion at a table">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7</a:t>
            </a:fld>
            <a:endParaRPr lang="en-US" altLang="zh-CN" noProof="0" dirty="0"/>
          </a:p>
        </p:txBody>
      </p:sp>
    </p:spTree>
    <p:extLst>
      <p:ext uri="{BB962C8B-B14F-4D97-AF65-F5344CB8AC3E}">
        <p14:creationId xmlns:p14="http://schemas.microsoft.com/office/powerpoint/2010/main" val="7755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914400" y="1060704"/>
            <a:ext cx="7132320" cy="1773936"/>
          </a:xfrm>
        </p:spPr>
        <p:txBody>
          <a:bodyPr/>
          <a:lstStyle/>
          <a:p>
            <a:r>
              <a:rPr lang="en-US" dirty="0"/>
              <a:t>Reselling partner &lt;&gt;Customer</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914399" y="3108959"/>
            <a:ext cx="3539613" cy="3242679"/>
          </a:xfrm>
        </p:spPr>
        <p:txBody>
          <a:bodyPr>
            <a:normAutofit fontScale="92500" lnSpcReduction="10000"/>
          </a:bodyPr>
          <a:lstStyle/>
          <a:p>
            <a:r>
              <a:rPr lang="en-US" dirty="0"/>
              <a:t>If you're a Business Central reselling partner, you must set up your employees to work in Partner Center, and you must assign employees to support your customers.</a:t>
            </a:r>
          </a:p>
          <a:p>
            <a:r>
              <a:rPr lang="en-US" dirty="0"/>
              <a:t> When you request a reseller relationship with a customer, you can choose to include delegated administration privileges for Microsoft Entra ID and Microsoft 365 in the request email that you send to the customer</a:t>
            </a:r>
          </a:p>
        </p:txBody>
      </p:sp>
      <p:sp>
        <p:nvSpPr>
          <p:cNvPr id="44" name="Text Placeholder 43">
            <a:extLst>
              <a:ext uri="{FF2B5EF4-FFF2-40B4-BE49-F238E27FC236}">
                <a16:creationId xmlns:a16="http://schemas.microsoft.com/office/drawing/2014/main" id="{78466807-A2DA-EC5D-ACDE-B83D6F7169EA}"/>
              </a:ext>
            </a:extLst>
          </p:cNvPr>
          <p:cNvSpPr>
            <a:spLocks noGrp="1"/>
          </p:cNvSpPr>
          <p:nvPr>
            <p:ph idx="56"/>
          </p:nvPr>
        </p:nvSpPr>
        <p:spPr>
          <a:xfrm>
            <a:off x="4754880" y="3108960"/>
            <a:ext cx="3291840" cy="2651760"/>
          </a:xfrm>
        </p:spPr>
        <p:txBody>
          <a:bodyPr/>
          <a:lstStyle/>
          <a:p>
            <a:r>
              <a:rPr lang="en-US" dirty="0"/>
              <a:t>This way, you set up security groups to specify which users in your own organization must have access to a specific customer as Dynamics 365 administrator or any other role you </a:t>
            </a:r>
            <a:r>
              <a:rPr lang="en-US" dirty="0" err="1"/>
              <a:t>prefe</a:t>
            </a:r>
            <a:endParaRPr lang="en-US" dirty="0"/>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4182148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B8D8D-5D70-CFD5-63A8-C3C5971C6D0B}"/>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30EBEEC1-CB3E-4713-C6BB-FF52B2F042AC}"/>
              </a:ext>
            </a:extLst>
          </p:cNvPr>
          <p:cNvSpPr>
            <a:spLocks noGrp="1"/>
          </p:cNvSpPr>
          <p:nvPr>
            <p:ph type="title"/>
          </p:nvPr>
        </p:nvSpPr>
        <p:spPr>
          <a:xfrm>
            <a:off x="914400" y="1060704"/>
            <a:ext cx="7132320" cy="1773936"/>
          </a:xfrm>
        </p:spPr>
        <p:txBody>
          <a:bodyPr/>
          <a:lstStyle/>
          <a:p>
            <a:r>
              <a:rPr lang="en-US" dirty="0"/>
              <a:t>Reselling partner &lt;&gt;Customer</a:t>
            </a:r>
          </a:p>
        </p:txBody>
      </p:sp>
      <p:sp>
        <p:nvSpPr>
          <p:cNvPr id="43" name="Text Placeholder 42">
            <a:extLst>
              <a:ext uri="{FF2B5EF4-FFF2-40B4-BE49-F238E27FC236}">
                <a16:creationId xmlns:a16="http://schemas.microsoft.com/office/drawing/2014/main" id="{47E2EA7B-72D4-4729-30FC-AED3E1B8680F}"/>
              </a:ext>
            </a:extLst>
          </p:cNvPr>
          <p:cNvSpPr>
            <a:spLocks noGrp="1"/>
          </p:cNvSpPr>
          <p:nvPr>
            <p:ph idx="1"/>
          </p:nvPr>
        </p:nvSpPr>
        <p:spPr>
          <a:xfrm>
            <a:off x="914399" y="3108959"/>
            <a:ext cx="3539613" cy="3242679"/>
          </a:xfrm>
        </p:spPr>
        <p:txBody>
          <a:bodyPr>
            <a:normAutofit lnSpcReduction="10000"/>
          </a:bodyPr>
          <a:lstStyle/>
          <a:p>
            <a:r>
              <a:rPr lang="en-US" dirty="0"/>
              <a:t>Both internal and external admins can see these users in the Users list, and they have full transparency into what these users do through the change log, for example. But they can't see the actual name of these users. GDAP users are listed with user names such as USER_1A2B3C4D5E6F, and an email address such as USER_1A2B3C4D5E6F@partnerA.com, which isn't the person's actual email address. </a:t>
            </a:r>
          </a:p>
        </p:txBody>
      </p:sp>
      <p:sp>
        <p:nvSpPr>
          <p:cNvPr id="44" name="Text Placeholder 43">
            <a:extLst>
              <a:ext uri="{FF2B5EF4-FFF2-40B4-BE49-F238E27FC236}">
                <a16:creationId xmlns:a16="http://schemas.microsoft.com/office/drawing/2014/main" id="{2ED6BD27-E89C-DDD2-7FA2-CE7C723B81D1}"/>
              </a:ext>
            </a:extLst>
          </p:cNvPr>
          <p:cNvSpPr>
            <a:spLocks noGrp="1"/>
          </p:cNvSpPr>
          <p:nvPr>
            <p:ph idx="56"/>
          </p:nvPr>
        </p:nvSpPr>
        <p:spPr>
          <a:xfrm>
            <a:off x="4754880" y="3108960"/>
            <a:ext cx="3291840" cy="2651760"/>
          </a:xfrm>
        </p:spPr>
        <p:txBody>
          <a:bodyPr/>
          <a:lstStyle/>
          <a:p>
            <a:r>
              <a:rPr lang="en-US" dirty="0"/>
              <a:t>This way, the GDAP user accounts don't reveal personal </a:t>
            </a:r>
            <a:r>
              <a:rPr lang="en-US" dirty="0" err="1"/>
              <a:t>informatio</a:t>
            </a:r>
            <a:endParaRPr lang="en-US" dirty="0"/>
          </a:p>
        </p:txBody>
      </p:sp>
      <p:sp>
        <p:nvSpPr>
          <p:cNvPr id="11" name="Slide Number Placeholder 13">
            <a:extLst>
              <a:ext uri="{FF2B5EF4-FFF2-40B4-BE49-F238E27FC236}">
                <a16:creationId xmlns:a16="http://schemas.microsoft.com/office/drawing/2014/main" id="{DC643DCA-915F-151D-897F-EF5074EACA70}"/>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04422318-54A0-DED0-A1B5-03B5FE6015A0}"/>
              </a:ext>
            </a:extLst>
          </p:cNvPr>
          <p:cNvSpPr>
            <a:spLocks noGrp="1"/>
          </p:cNvSpPr>
          <p:nvPr>
            <p:ph type="sldNum" sz="quarter" idx="55"/>
          </p:nvPr>
        </p:nvSpPr>
        <p:spPr/>
        <p:txBody>
          <a:bodyPr/>
          <a:lstStyle/>
          <a:p>
            <a:fld id="{47FEACEE-25B4-4A2D-B147-27296E36371D}" type="slidenum">
              <a:rPr lang="en-US" altLang="zh-CN" noProof="0" smtClean="0"/>
              <a:pPr/>
              <a:t>9</a:t>
            </a:fld>
            <a:endParaRPr lang="en-US" altLang="zh-CN" noProof="0" dirty="0"/>
          </a:p>
        </p:txBody>
      </p:sp>
    </p:spTree>
    <p:extLst>
      <p:ext uri="{BB962C8B-B14F-4D97-AF65-F5344CB8AC3E}">
        <p14:creationId xmlns:p14="http://schemas.microsoft.com/office/powerpoint/2010/main" val="343646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BBA0F-2245-09A6-EB34-7FBAA14B70D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A492BFE-6958-8DD1-B034-D6CDF2EDECBE}"/>
              </a:ext>
            </a:extLst>
          </p:cNvPr>
          <p:cNvSpPr>
            <a:spLocks noGrp="1"/>
          </p:cNvSpPr>
          <p:nvPr>
            <p:ph type="title"/>
          </p:nvPr>
        </p:nvSpPr>
        <p:spPr>
          <a:xfrm>
            <a:off x="914400" y="731520"/>
            <a:ext cx="3931920" cy="2103120"/>
          </a:xfrm>
        </p:spPr>
        <p:txBody>
          <a:bodyPr anchor="b" anchorCtr="0"/>
          <a:lstStyle/>
          <a:p>
            <a:r>
              <a:rPr lang="en-US" altLang="zh-CN" dirty="0"/>
              <a:t>Delegated permissions as a partner</a:t>
            </a:r>
            <a:endParaRPr lang="en-US" dirty="0"/>
          </a:p>
        </p:txBody>
      </p:sp>
      <p:sp>
        <p:nvSpPr>
          <p:cNvPr id="20" name="Text Placeholder 19">
            <a:extLst>
              <a:ext uri="{FF2B5EF4-FFF2-40B4-BE49-F238E27FC236}">
                <a16:creationId xmlns:a16="http://schemas.microsoft.com/office/drawing/2014/main" id="{FB465812-A634-6E97-E99D-FA6774F4F31A}"/>
              </a:ext>
            </a:extLst>
          </p:cNvPr>
          <p:cNvSpPr>
            <a:spLocks noGrp="1"/>
          </p:cNvSpPr>
          <p:nvPr>
            <p:ph idx="1"/>
          </p:nvPr>
        </p:nvSpPr>
        <p:spPr>
          <a:xfrm>
            <a:off x="914400" y="3108960"/>
            <a:ext cx="3931920" cy="2651760"/>
          </a:xfrm>
        </p:spPr>
        <p:txBody>
          <a:bodyPr>
            <a:normAutofit fontScale="85000" lnSpcReduction="10000"/>
          </a:bodyPr>
          <a:lstStyle/>
          <a:p>
            <a:r>
              <a:rPr lang="en-US" dirty="0"/>
              <a:t>Delegated administrators aren't visible in a customer's Microsoft Entra ID user list and can't be managed by the customer's internal admin. However, when a delegated admin logs into a Business Central environment on behalf of their customer, they're automatically created as a user inside Business Central. </a:t>
            </a:r>
          </a:p>
          <a:p>
            <a:r>
              <a:rPr lang="en-US" dirty="0"/>
              <a:t>This way, the actions performed by a delegated admin are logged in Business Central, such as posting documents, and associated with their User ID.</a:t>
            </a:r>
          </a:p>
        </p:txBody>
      </p:sp>
      <p:sp>
        <p:nvSpPr>
          <p:cNvPr id="9" name="Slide Number Placeholder 13">
            <a:extLst>
              <a:ext uri="{FF2B5EF4-FFF2-40B4-BE49-F238E27FC236}">
                <a16:creationId xmlns:a16="http://schemas.microsoft.com/office/drawing/2014/main" id="{F2F9DFCB-2C8F-3FA1-04A4-0F17BB7C2DFD}"/>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1AAA860C-B08E-C71C-1D3D-6A2502AF15E9}"/>
              </a:ext>
            </a:extLst>
          </p:cNvPr>
          <p:cNvSpPr>
            <a:spLocks noGrp="1"/>
          </p:cNvSpPr>
          <p:nvPr>
            <p:ph type="sldNum" sz="quarter" idx="53"/>
          </p:nvPr>
        </p:nvSpPr>
        <p:spPr/>
        <p:txBody>
          <a:bodyPr/>
          <a:lstStyle/>
          <a:p>
            <a:fld id="{47FEACEE-25B4-4A2D-B147-27296E36371D}" type="slidenum">
              <a:rPr lang="en-US" altLang="zh-CN" noProof="0" smtClean="0"/>
              <a:pPr/>
              <a:t>10</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A5C6DBD7-0360-D6B3-1CF0-E77FE1E24E13}"/>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996931FF-BD10-1803-1E5F-708A61E33F4C}"/>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2519358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152F6-D79B-C736-609A-FAB0FEE3DA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264BED-1C19-0E7E-6E85-FF439B17DCFA}"/>
              </a:ext>
            </a:extLst>
          </p:cNvPr>
          <p:cNvSpPr>
            <a:spLocks noGrp="1"/>
          </p:cNvSpPr>
          <p:nvPr>
            <p:ph type="title"/>
          </p:nvPr>
        </p:nvSpPr>
        <p:spPr>
          <a:xfrm>
            <a:off x="914400" y="731520"/>
            <a:ext cx="3931920" cy="2103120"/>
          </a:xfrm>
        </p:spPr>
        <p:txBody>
          <a:bodyPr anchor="b" anchorCtr="0"/>
          <a:lstStyle/>
          <a:p>
            <a:r>
              <a:rPr lang="en-US" dirty="0"/>
              <a:t>Delegated admin’s job queue entries</a:t>
            </a:r>
          </a:p>
        </p:txBody>
      </p:sp>
      <p:sp>
        <p:nvSpPr>
          <p:cNvPr id="20" name="Text Placeholder 19">
            <a:extLst>
              <a:ext uri="{FF2B5EF4-FFF2-40B4-BE49-F238E27FC236}">
                <a16:creationId xmlns:a16="http://schemas.microsoft.com/office/drawing/2014/main" id="{6F314E6D-9089-B4D4-C26A-0D8E82735B07}"/>
              </a:ext>
            </a:extLst>
          </p:cNvPr>
          <p:cNvSpPr>
            <a:spLocks noGrp="1"/>
          </p:cNvSpPr>
          <p:nvPr>
            <p:ph idx="1"/>
          </p:nvPr>
        </p:nvSpPr>
        <p:spPr>
          <a:xfrm>
            <a:off x="914400" y="3108960"/>
            <a:ext cx="3931920" cy="2651760"/>
          </a:xfrm>
        </p:spPr>
        <p:txBody>
          <a:bodyPr>
            <a:normAutofit fontScale="92500" lnSpcReduction="10000"/>
          </a:bodyPr>
          <a:lstStyle/>
          <a:p>
            <a:r>
              <a:rPr lang="en-US" dirty="0"/>
              <a:t>People who aren't employed by the customer, typically Microsoft partners, can use the delegated admin role to set up and configure business processes for the customers. </a:t>
            </a:r>
          </a:p>
          <a:p>
            <a:r>
              <a:rPr lang="en-US" dirty="0"/>
              <a:t>However, the delegated admin role isn't a licensed user in Business Central, and often is only assigned temporarily, so there are some limitations to what they can do.</a:t>
            </a:r>
          </a:p>
        </p:txBody>
      </p:sp>
      <p:sp>
        <p:nvSpPr>
          <p:cNvPr id="9" name="Slide Number Placeholder 13">
            <a:extLst>
              <a:ext uri="{FF2B5EF4-FFF2-40B4-BE49-F238E27FC236}">
                <a16:creationId xmlns:a16="http://schemas.microsoft.com/office/drawing/2014/main" id="{4E727ABD-FD7F-6300-6C30-D52B983D926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5D020FEA-9160-13C6-0BAB-C6B5EB82BC4B}"/>
              </a:ext>
            </a:extLst>
          </p:cNvPr>
          <p:cNvSpPr>
            <a:spLocks noGrp="1"/>
          </p:cNvSpPr>
          <p:nvPr>
            <p:ph type="sldNum" sz="quarter" idx="53"/>
          </p:nvPr>
        </p:nvSpPr>
        <p:spPr/>
        <p:txBody>
          <a:bodyPr/>
          <a:lstStyle/>
          <a:p>
            <a:fld id="{47FEACEE-25B4-4A2D-B147-27296E36371D}" type="slidenum">
              <a:rPr lang="en-US" altLang="zh-CN" noProof="0" smtClean="0"/>
              <a:pPr/>
              <a:t>11</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1B5F655C-462B-26E3-B17D-25ECC078A7F8}"/>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D1833FC2-35B6-E5FA-1D58-803B3D95CF09}"/>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248660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5A59C-6B27-7B92-9A07-3C03C7BAC6A1}"/>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F317DC08-AE93-F85F-22CB-CE452A1C3D9F}"/>
              </a:ext>
            </a:extLst>
          </p:cNvPr>
          <p:cNvSpPr>
            <a:spLocks noGrp="1"/>
          </p:cNvSpPr>
          <p:nvPr>
            <p:ph type="title"/>
          </p:nvPr>
        </p:nvSpPr>
        <p:spPr>
          <a:xfrm>
            <a:off x="914400" y="1060704"/>
            <a:ext cx="7132320" cy="1773936"/>
          </a:xfrm>
        </p:spPr>
        <p:txBody>
          <a:bodyPr/>
          <a:lstStyle/>
          <a:p>
            <a:r>
              <a:rPr lang="en-US" dirty="0"/>
              <a:t>Job queue entries</a:t>
            </a:r>
          </a:p>
        </p:txBody>
      </p:sp>
      <p:sp>
        <p:nvSpPr>
          <p:cNvPr id="43" name="Text Placeholder 42">
            <a:extLst>
              <a:ext uri="{FF2B5EF4-FFF2-40B4-BE49-F238E27FC236}">
                <a16:creationId xmlns:a16="http://schemas.microsoft.com/office/drawing/2014/main" id="{D5286CCA-20DF-0424-A70A-BB6CB14237B4}"/>
              </a:ext>
            </a:extLst>
          </p:cNvPr>
          <p:cNvSpPr>
            <a:spLocks noGrp="1"/>
          </p:cNvSpPr>
          <p:nvPr>
            <p:ph idx="1"/>
          </p:nvPr>
        </p:nvSpPr>
        <p:spPr>
          <a:xfrm>
            <a:off x="914399" y="3108959"/>
            <a:ext cx="3539613" cy="3242679"/>
          </a:xfrm>
        </p:spPr>
        <p:txBody>
          <a:bodyPr>
            <a:normAutofit/>
          </a:bodyPr>
          <a:lstStyle/>
          <a:p>
            <a:r>
              <a:rPr lang="en-US" dirty="0"/>
              <a:t>Job queue entries are a useful tool for running setup and configuration processes in Business Central. Delegated admins must be able to create and run them in their customer's tenant. </a:t>
            </a:r>
          </a:p>
          <a:p>
            <a:r>
              <a:rPr lang="en-US" dirty="0"/>
              <a:t> </a:t>
            </a:r>
          </a:p>
        </p:txBody>
      </p:sp>
      <p:sp>
        <p:nvSpPr>
          <p:cNvPr id="44" name="Text Placeholder 43">
            <a:extLst>
              <a:ext uri="{FF2B5EF4-FFF2-40B4-BE49-F238E27FC236}">
                <a16:creationId xmlns:a16="http://schemas.microsoft.com/office/drawing/2014/main" id="{0E0802A3-BFEE-2983-FF47-E26230B845B2}"/>
              </a:ext>
            </a:extLst>
          </p:cNvPr>
          <p:cNvSpPr>
            <a:spLocks noGrp="1"/>
          </p:cNvSpPr>
          <p:nvPr>
            <p:ph idx="56"/>
          </p:nvPr>
        </p:nvSpPr>
        <p:spPr>
          <a:xfrm>
            <a:off x="4754880" y="3108960"/>
            <a:ext cx="3291840" cy="2651760"/>
          </a:xfrm>
        </p:spPr>
        <p:txBody>
          <a:bodyPr/>
          <a:lstStyle/>
          <a:p>
            <a:r>
              <a:rPr lang="en-US" dirty="0"/>
              <a:t>You can now use the </a:t>
            </a:r>
            <a:r>
              <a:rPr lang="en-US" b="1" dirty="0"/>
              <a:t>Job Queue Entry Approval Workflow</a:t>
            </a:r>
            <a:r>
              <a:rPr lang="en-US" dirty="0"/>
              <a:t> template to create a workflow that a delegated admin can use to ask for approval to run job queue entries through the credentials of a licensed user</a:t>
            </a:r>
          </a:p>
        </p:txBody>
      </p:sp>
      <p:sp>
        <p:nvSpPr>
          <p:cNvPr id="11" name="Slide Number Placeholder 13">
            <a:extLst>
              <a:ext uri="{FF2B5EF4-FFF2-40B4-BE49-F238E27FC236}">
                <a16:creationId xmlns:a16="http://schemas.microsoft.com/office/drawing/2014/main" id="{5227ECA9-B640-F3D8-3C3F-6F52FEEAF903}"/>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0D4CF30-5594-B0D1-15F0-3D32B199780C}"/>
              </a:ext>
            </a:extLst>
          </p:cNvPr>
          <p:cNvSpPr>
            <a:spLocks noGrp="1"/>
          </p:cNvSpPr>
          <p:nvPr>
            <p:ph type="sldNum" sz="quarter" idx="55"/>
          </p:nvPr>
        </p:nvSpPr>
        <p:spPr/>
        <p:txBody>
          <a:bodyPr/>
          <a:lstStyle/>
          <a:p>
            <a:fld id="{47FEACEE-25B4-4A2D-B147-27296E36371D}" type="slidenum">
              <a:rPr lang="en-US" altLang="zh-CN" noProof="0" smtClean="0"/>
              <a:pPr/>
              <a:t>12</a:t>
            </a:fld>
            <a:endParaRPr lang="en-US" altLang="zh-CN" noProof="0" dirty="0"/>
          </a:p>
        </p:txBody>
      </p:sp>
    </p:spTree>
    <p:extLst>
      <p:ext uri="{BB962C8B-B14F-4D97-AF65-F5344CB8AC3E}">
        <p14:creationId xmlns:p14="http://schemas.microsoft.com/office/powerpoint/2010/main" val="2976174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1A789-CAA3-FE07-D0A5-095318277D0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DD54350-22A8-4E1E-AC46-FFF5C0D477D6}"/>
              </a:ext>
            </a:extLst>
          </p:cNvPr>
          <p:cNvSpPr>
            <a:spLocks noGrp="1"/>
          </p:cNvSpPr>
          <p:nvPr>
            <p:ph type="title"/>
          </p:nvPr>
        </p:nvSpPr>
        <p:spPr>
          <a:xfrm>
            <a:off x="914400" y="731520"/>
            <a:ext cx="3931920" cy="2103120"/>
          </a:xfrm>
        </p:spPr>
        <p:txBody>
          <a:bodyPr anchor="b" anchorCtr="0"/>
          <a:lstStyle/>
          <a:p>
            <a:r>
              <a:rPr lang="en-US" dirty="0"/>
              <a:t>Delegated permissions as an internal administrator</a:t>
            </a:r>
          </a:p>
        </p:txBody>
      </p:sp>
      <p:sp>
        <p:nvSpPr>
          <p:cNvPr id="20" name="Text Placeholder 19">
            <a:extLst>
              <a:ext uri="{FF2B5EF4-FFF2-40B4-BE49-F238E27FC236}">
                <a16:creationId xmlns:a16="http://schemas.microsoft.com/office/drawing/2014/main" id="{FEF43318-3382-D2D3-E26F-9CBEB417E11A}"/>
              </a:ext>
            </a:extLst>
          </p:cNvPr>
          <p:cNvSpPr>
            <a:spLocks noGrp="1"/>
          </p:cNvSpPr>
          <p:nvPr>
            <p:ph idx="1"/>
          </p:nvPr>
        </p:nvSpPr>
        <p:spPr>
          <a:xfrm>
            <a:off x="914400" y="3108960"/>
            <a:ext cx="4601306" cy="3471830"/>
          </a:xfrm>
        </p:spPr>
        <p:txBody>
          <a:bodyPr>
            <a:normAutofit lnSpcReduction="10000"/>
          </a:bodyPr>
          <a:lstStyle/>
          <a:p>
            <a:r>
              <a:rPr lang="en-US" dirty="0"/>
              <a:t> As soon as the delegated administration right is granted in the Microsoft 365 admin center, you can't restrict partner access to a specific service only. The delegated admin access applies to all Microsoft services that your organization subscribes to. </a:t>
            </a:r>
          </a:p>
          <a:p>
            <a:r>
              <a:rPr lang="en-US" dirty="0"/>
              <a:t>Customers can choose to configure conditional access that might restrict delegated admin access further. For example, it's a best practice to set up a conditional access policy to require multifactor authentication for admins, and to set up terms of use policies.</a:t>
            </a:r>
          </a:p>
        </p:txBody>
      </p:sp>
      <p:sp>
        <p:nvSpPr>
          <p:cNvPr id="9" name="Slide Number Placeholder 13">
            <a:extLst>
              <a:ext uri="{FF2B5EF4-FFF2-40B4-BE49-F238E27FC236}">
                <a16:creationId xmlns:a16="http://schemas.microsoft.com/office/drawing/2014/main" id="{939323D6-1060-D9CA-8ECB-CB4B8A10FFED}"/>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800F06A4-B902-9BDE-B134-197E40B25322}"/>
              </a:ext>
            </a:extLst>
          </p:cNvPr>
          <p:cNvSpPr>
            <a:spLocks noGrp="1"/>
          </p:cNvSpPr>
          <p:nvPr>
            <p:ph type="sldNum" sz="quarter" idx="53"/>
          </p:nvPr>
        </p:nvSpPr>
        <p:spPr/>
        <p:txBody>
          <a:bodyPr/>
          <a:lstStyle/>
          <a:p>
            <a:fld id="{47FEACEE-25B4-4A2D-B147-27296E36371D}" type="slidenum">
              <a:rPr lang="en-US" altLang="zh-CN" noProof="0" smtClean="0"/>
              <a:pPr/>
              <a:t>13</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305A0E69-B6C4-47E1-9DFF-CCC5F314333C}"/>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549516B3-7E55-F212-4CB3-5AFA286E3E7B}"/>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1032799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Mirjam Nilsson</a:t>
            </a:r>
          </a:p>
          <a:p>
            <a:pPr lvl="0"/>
            <a:r>
              <a:rPr lang="en-US" dirty="0"/>
              <a:t>mirjam@contoso.com</a:t>
            </a:r>
          </a:p>
          <a:p>
            <a:pPr lvl="0"/>
            <a:r>
              <a:rPr lang="en-US" dirty="0"/>
              <a:t>www.contoso.com</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{BE99236D-1AF8-4D1D-A489-9A37D2A989FD}TF63aebcec-8e39-4664-940a-dd6c2f00c54d020a9832_win32-3cdd3ee32610</Template>
  <TotalTime>42</TotalTime>
  <Words>747</Words>
  <Application>Microsoft Office PowerPoint</Application>
  <PresentationFormat>Widescreen</PresentationFormat>
  <Paragraphs>80</Paragraphs>
  <Slides>14</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等线</vt:lpstr>
      <vt:lpstr>Abadi</vt:lpstr>
      <vt:lpstr>Arial</vt:lpstr>
      <vt:lpstr>Calibri</vt:lpstr>
      <vt:lpstr>Posterama</vt:lpstr>
      <vt:lpstr>Posterama Text SemiBold</vt:lpstr>
      <vt:lpstr>Custom</vt:lpstr>
      <vt:lpstr>Administration center</vt:lpstr>
      <vt:lpstr>Agenda </vt:lpstr>
      <vt:lpstr>Deploy and administration of MS Dynamics365 Business Central</vt:lpstr>
      <vt:lpstr>Administration center  admin.cloud.microsoft </vt:lpstr>
      <vt:lpstr>Market expansion</vt:lpstr>
      <vt:lpstr>Admin credentials</vt:lpstr>
      <vt:lpstr>GDAP</vt:lpstr>
      <vt:lpstr>Reselling partner &lt;&gt;Customer</vt:lpstr>
      <vt:lpstr>Reselling partner &lt;&gt;Customer</vt:lpstr>
      <vt:lpstr>Delegated permissions as a partner</vt:lpstr>
      <vt:lpstr>Delegated admin’s job queue entries</vt:lpstr>
      <vt:lpstr>Job queue entries</vt:lpstr>
      <vt:lpstr>Delegated permissions as an internal administrator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Oleksandr Fishchuk</dc:creator>
  <cp:lastModifiedBy>Oleksandr Fishchuk</cp:lastModifiedBy>
  <cp:revision>2</cp:revision>
  <dcterms:created xsi:type="dcterms:W3CDTF">2026-05-18T13:07:38Z</dcterms:created>
  <dcterms:modified xsi:type="dcterms:W3CDTF">2026-05-26T17:52:19Z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