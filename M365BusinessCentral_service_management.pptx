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276" r:id="rId9"/>
    <p:sldId id="279" r:id="rId10"/>
    <p:sldId id="298" r:id="rId11"/>
    <p:sldId id="293" r:id="rId12"/>
    <p:sldId id="308" r:id="rId13"/>
    <p:sldId id="309" r:id="rId14"/>
    <p:sldId id="303" r:id="rId15"/>
    <p:sldId id="310"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8054"/>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Component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Service management</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Component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b="0" dirty="0">
              <a:latin typeface="+mn-lt"/>
            </a:rPr>
            <a:t>Service contract management</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Component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Service price management</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3">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3"/>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3"/>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3"/>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3">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3"/>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3"/>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3"/>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3">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3"/>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3"/>
      <dgm:spPr/>
    </dgm:pt>
    <dgm:pt modelId="{EAB0CCC2-BFF9-432D-BA8E-7ECAF2D92AF2}" type="pres">
      <dgm:prSet presAssocID="{3CC73758-10C1-47F8-AFA7-1A986D4DDD60}"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2523" y="2027215"/>
          <a:ext cx="340077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Component 1</a:t>
          </a:r>
        </a:p>
      </dsp:txBody>
      <dsp:txXfrm>
        <a:off x="232523" y="2027215"/>
        <a:ext cx="3400775" cy="426583"/>
      </dsp:txXfrm>
    </dsp:sp>
    <dsp:sp modelId="{BA29120C-7C6B-4F62-9079-4AD528BC0744}">
      <dsp:nvSpPr>
        <dsp:cNvPr id="0" name=""/>
        <dsp:cNvSpPr/>
      </dsp:nvSpPr>
      <dsp:spPr>
        <a:xfrm>
          <a:off x="652" y="526622"/>
          <a:ext cx="3864517"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Service management</a:t>
          </a:r>
        </a:p>
      </dsp:txBody>
      <dsp:txXfrm>
        <a:off x="32072" y="558042"/>
        <a:ext cx="3801677" cy="580810"/>
      </dsp:txXfrm>
    </dsp:sp>
    <dsp:sp modelId="{A95DB80B-444A-4D69-B205-3A801BB8524A}">
      <dsp:nvSpPr>
        <dsp:cNvPr id="0" name=""/>
        <dsp:cNvSpPr/>
      </dsp:nvSpPr>
      <dsp:spPr>
        <a:xfrm>
          <a:off x="1932911"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73943" y="1321276"/>
          <a:ext cx="340077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Component 2</a:t>
          </a:r>
        </a:p>
      </dsp:txBody>
      <dsp:txXfrm>
        <a:off x="2473943" y="1321276"/>
        <a:ext cx="3400775" cy="426583"/>
      </dsp:txXfrm>
    </dsp:sp>
    <dsp:sp modelId="{FA19A0AA-8B0B-4AA8-A80D-08CFFDD3F112}">
      <dsp:nvSpPr>
        <dsp:cNvPr id="0" name=""/>
        <dsp:cNvSpPr/>
      </dsp:nvSpPr>
      <dsp:spPr>
        <a:xfrm>
          <a:off x="190459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42072" y="2604801"/>
          <a:ext cx="3864517"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kern="1200" dirty="0">
              <a:latin typeface="+mn-lt"/>
            </a:rPr>
            <a:t>Service contract management</a:t>
          </a:r>
        </a:p>
      </dsp:txBody>
      <dsp:txXfrm>
        <a:off x="2273492" y="2636221"/>
        <a:ext cx="3801677" cy="580810"/>
      </dsp:txXfrm>
    </dsp:sp>
    <dsp:sp modelId="{DBD74D6B-057A-432C-9067-BF618C19EB2A}">
      <dsp:nvSpPr>
        <dsp:cNvPr id="0" name=""/>
        <dsp:cNvSpPr/>
      </dsp:nvSpPr>
      <dsp:spPr>
        <a:xfrm>
          <a:off x="4174331"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715363" y="2027215"/>
          <a:ext cx="340077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Component 3</a:t>
          </a:r>
        </a:p>
      </dsp:txBody>
      <dsp:txXfrm>
        <a:off x="4715363" y="2027215"/>
        <a:ext cx="3400775" cy="426583"/>
      </dsp:txXfrm>
    </dsp:sp>
    <dsp:sp modelId="{0F979253-FD39-4920-BFCA-78C564B167EA}">
      <dsp:nvSpPr>
        <dsp:cNvPr id="0" name=""/>
        <dsp:cNvSpPr/>
      </dsp:nvSpPr>
      <dsp:spPr>
        <a:xfrm>
          <a:off x="414601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83492" y="526622"/>
          <a:ext cx="3864517"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 Service price management</a:t>
          </a:r>
        </a:p>
      </dsp:txBody>
      <dsp:txXfrm>
        <a:off x="4514912" y="558042"/>
        <a:ext cx="3801677" cy="580810"/>
      </dsp:txXfrm>
    </dsp:sp>
    <dsp:sp modelId="{DCAE8A46-752C-4E82-84CE-E790E1F2918E}">
      <dsp:nvSpPr>
        <dsp:cNvPr id="0" name=""/>
        <dsp:cNvSpPr/>
      </dsp:nvSpPr>
      <dsp:spPr>
        <a:xfrm>
          <a:off x="6415751"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638743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5/27/2026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5/27/2026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B3B82-32CD-CEF5-5ADC-3D6AAED37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0E275-9D2A-8E8B-F49F-B32556F3415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6933233-E278-BBFB-40EC-ED942C1D73C6}"/>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DA5AA90-BCF1-02C6-741E-D2F841BE0D5D}"/>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336560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B3E0-1DA9-F7C0-45B0-F6CBC54FA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06B08-4F43-FFF4-647B-A51C7779334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F323656-60B3-A678-D6B1-906ABB9ECDD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4A6F0FE-1E93-8ECB-0D83-81954CC09105}"/>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624066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862-08E7-9E72-3A8C-893DB7E2E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4090E-F2FA-E0EE-7AED-D374621965D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B627D34-E772-6D2B-3A7B-D2F54A5A3E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B438FA9-81AA-D9F2-7C26-A946215B739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1205803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0E694-DEDF-97F8-F141-48FA9FAAE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4C118-20F9-8B64-CF67-0C15BCB9A03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80A18CA5-7B4F-47A6-1584-AFA6DC01A32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946CCDB8-BF6A-91EC-666A-99ACF72B25CE}"/>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957591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US" altLang="zh-CN" dirty="0"/>
              <a:t>MS Dynamics 365</a:t>
            </a:r>
            <a:br>
              <a:rPr lang="en-US" altLang="zh-CN" dirty="0"/>
            </a:br>
            <a:r>
              <a:rPr lang="en-US" dirty="0"/>
              <a:t>service management</a:t>
            </a:r>
            <a:br>
              <a:rPr lang="en-US" dirty="0"/>
            </a:b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altLang="zh-CN" dirty="0"/>
              <a:t>MS Dynamics 365</a:t>
            </a:r>
            <a:br>
              <a:rPr lang="en-US" altLang="zh-CN" dirty="0"/>
            </a:br>
            <a:r>
              <a:rPr lang="en-US" dirty="0"/>
              <a:t>service management</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Service management</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pPr marL="0" indent="0">
              <a:buNone/>
            </a:pPr>
            <a:r>
              <a:rPr lang="en-US" dirty="0"/>
              <a:t>Used in business scenarios such as complex customer service distribution systems, industrial service environments with bills of materials, and high-volume dispatching of service technicians with requirements for spare parts </a:t>
            </a:r>
            <a:r>
              <a:rPr lang="en-US" dirty="0" err="1"/>
              <a:t>managemen</a:t>
            </a: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Service management functionalities</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399" y="3108959"/>
            <a:ext cx="4385187" cy="3321337"/>
          </a:xfrm>
        </p:spPr>
        <p:txBody>
          <a:bodyPr>
            <a:normAutofit fontScale="92500" lnSpcReduction="10000"/>
          </a:bodyPr>
          <a:lstStyle/>
          <a:p>
            <a:r>
              <a:rPr lang="en-US" dirty="0"/>
              <a:t>Respond to service requests</a:t>
            </a:r>
          </a:p>
          <a:p>
            <a:r>
              <a:rPr lang="en-US" dirty="0"/>
              <a:t>Plan and schedule repair assignments</a:t>
            </a:r>
          </a:p>
          <a:p>
            <a:r>
              <a:rPr lang="en-US" dirty="0"/>
              <a:t>Follow up on the status of repair assignments</a:t>
            </a:r>
          </a:p>
          <a:p>
            <a:r>
              <a:rPr lang="en-US" dirty="0"/>
              <a:t>Track and invoice repair costs</a:t>
            </a:r>
          </a:p>
          <a:p>
            <a:r>
              <a:rPr lang="en-US" dirty="0"/>
              <a:t>Handle warranties</a:t>
            </a:r>
          </a:p>
          <a:p>
            <a:r>
              <a:rPr lang="en-US" dirty="0"/>
              <a:t>Set and use service contracts</a:t>
            </a:r>
          </a:p>
          <a:p>
            <a:r>
              <a:rPr lang="en-US" dirty="0"/>
              <a:t>Optimize inventory levels for spare parts</a:t>
            </a:r>
          </a:p>
          <a:p>
            <a:r>
              <a:rPr lang="en-US" dirty="0"/>
              <a:t>Improve spare parts for costing</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Service management components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3307678581"/>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Service management</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Service management</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60"/>
            <a:ext cx="3539613" cy="1443376"/>
          </a:xfrm>
        </p:spPr>
        <p:txBody>
          <a:bodyPr>
            <a:normAutofit/>
          </a:bodyPr>
          <a:lstStyle/>
          <a:p>
            <a:r>
              <a:rPr lang="en-US" dirty="0"/>
              <a:t>ITEMS</a:t>
            </a:r>
          </a:p>
          <a:p>
            <a:r>
              <a:rPr lang="en-US" dirty="0"/>
              <a:t>Service items are the equipment or the item that needs to be serviced or repaired</a:t>
            </a:r>
          </a:p>
          <a:p>
            <a:endParaRPr lang="en-US" dirty="0"/>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5142271" y="2834640"/>
            <a:ext cx="3291840" cy="2651760"/>
          </a:xfrm>
        </p:spPr>
        <p:txBody>
          <a:bodyPr/>
          <a:lstStyle/>
          <a:p>
            <a:r>
              <a:rPr lang="en-US" dirty="0"/>
              <a:t>WARRANTY</a:t>
            </a:r>
          </a:p>
          <a:p>
            <a:r>
              <a:rPr lang="en-US" dirty="0"/>
              <a:t>You can manage warranty details on the service items and spare parts and record details on service levels, response times, and discount levels.</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
        <p:nvSpPr>
          <p:cNvPr id="4" name="TextBox 3">
            <a:extLst>
              <a:ext uri="{FF2B5EF4-FFF2-40B4-BE49-F238E27FC236}">
                <a16:creationId xmlns:a16="http://schemas.microsoft.com/office/drawing/2014/main" id="{63497E94-B229-4943-BE13-95BBFDFAB1E6}"/>
              </a:ext>
            </a:extLst>
          </p:cNvPr>
          <p:cNvSpPr txBox="1"/>
          <p:nvPr/>
        </p:nvSpPr>
        <p:spPr>
          <a:xfrm>
            <a:off x="3057831" y="4552336"/>
            <a:ext cx="3840481" cy="1200329"/>
          </a:xfrm>
          <a:prstGeom prst="rect">
            <a:avLst/>
          </a:prstGeom>
          <a:noFill/>
        </p:spPr>
        <p:txBody>
          <a:bodyPr wrap="square">
            <a:spAutoFit/>
          </a:bodyPr>
          <a:lstStyle/>
          <a:p>
            <a:r>
              <a:rPr lang="en-US" b="1" dirty="0">
                <a:solidFill>
                  <a:schemeClr val="bg1"/>
                </a:solidFill>
              </a:rPr>
              <a:t>SERVICE ORDERS</a:t>
            </a:r>
          </a:p>
          <a:p>
            <a:endParaRPr lang="en-US" b="1" dirty="0">
              <a:solidFill>
                <a:schemeClr val="bg1"/>
              </a:solidFill>
            </a:endParaRPr>
          </a:p>
          <a:p>
            <a:r>
              <a:rPr lang="en-US" dirty="0">
                <a:solidFill>
                  <a:schemeClr val="bg1"/>
                </a:solidFill>
              </a:rPr>
              <a:t>are assignments to service the equipment</a:t>
            </a:r>
            <a:endParaRPr lang="en-US" b="1" dirty="0">
              <a:solidFill>
                <a:schemeClr val="bg1"/>
              </a:solidFill>
            </a:endParaRPr>
          </a:p>
        </p:txBody>
      </p:sp>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B23D6-0AC9-5956-B145-87ECED6C9E5E}"/>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050699C6-76AD-3987-EA31-A708F0A90DEB}"/>
              </a:ext>
            </a:extLst>
          </p:cNvPr>
          <p:cNvSpPr>
            <a:spLocks noGrp="1"/>
          </p:cNvSpPr>
          <p:nvPr>
            <p:ph type="title"/>
          </p:nvPr>
        </p:nvSpPr>
        <p:spPr>
          <a:xfrm>
            <a:off x="896065" y="194753"/>
            <a:ext cx="10527400" cy="1036517"/>
          </a:xfrm>
        </p:spPr>
        <p:txBody>
          <a:bodyPr/>
          <a:lstStyle/>
          <a:p>
            <a:r>
              <a:rPr lang="en-US" dirty="0"/>
              <a:t>Service management: Items</a:t>
            </a:r>
          </a:p>
        </p:txBody>
      </p:sp>
      <p:sp>
        <p:nvSpPr>
          <p:cNvPr id="11" name="Slide Number Placeholder 13">
            <a:extLst>
              <a:ext uri="{FF2B5EF4-FFF2-40B4-BE49-F238E27FC236}">
                <a16:creationId xmlns:a16="http://schemas.microsoft.com/office/drawing/2014/main" id="{C66614A3-1CD7-4EA4-F3B9-F8F2ADFF007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58DFF57-E3A7-31F5-27A4-A200D1EC3334}"/>
              </a:ext>
            </a:extLst>
          </p:cNvPr>
          <p:cNvSpPr>
            <a:spLocks noGrp="1"/>
          </p:cNvSpPr>
          <p:nvPr>
            <p:ph type="sldNum" sz="quarter" idx="55"/>
          </p:nvPr>
        </p:nvSpPr>
        <p:spPr/>
        <p:txBody>
          <a:bodyPr/>
          <a:lstStyle/>
          <a:p>
            <a:fld id="{47FEACEE-25B4-4A2D-B147-27296E36371D}" type="slidenum">
              <a:rPr lang="en-US" altLang="zh-CN" noProof="0" smtClean="0"/>
              <a:pPr/>
              <a:t>9</a:t>
            </a:fld>
            <a:endParaRPr lang="en-US" altLang="zh-CN" noProof="0" dirty="0"/>
          </a:p>
        </p:txBody>
      </p:sp>
      <p:pic>
        <p:nvPicPr>
          <p:cNvPr id="6" name="Content Placeholder 5">
            <a:extLst>
              <a:ext uri="{FF2B5EF4-FFF2-40B4-BE49-F238E27FC236}">
                <a16:creationId xmlns:a16="http://schemas.microsoft.com/office/drawing/2014/main" id="{7FCDAE13-A73F-57B6-D70A-9CFC5C4B15D1}"/>
              </a:ext>
            </a:extLst>
          </p:cNvPr>
          <p:cNvPicPr>
            <a:picLocks noGrp="1" noChangeAspect="1"/>
          </p:cNvPicPr>
          <p:nvPr>
            <p:ph idx="56"/>
          </p:nvPr>
        </p:nvPicPr>
        <p:blipFill>
          <a:blip r:embed="rId3"/>
          <a:stretch>
            <a:fillRect/>
          </a:stretch>
        </p:blipFill>
        <p:spPr>
          <a:xfrm>
            <a:off x="983227" y="1288584"/>
            <a:ext cx="7448734" cy="4325635"/>
          </a:xfrm>
          <a:prstGeom prst="rect">
            <a:avLst/>
          </a:prstGeom>
        </p:spPr>
      </p:pic>
    </p:spTree>
    <p:extLst>
      <p:ext uri="{BB962C8B-B14F-4D97-AF65-F5344CB8AC3E}">
        <p14:creationId xmlns:p14="http://schemas.microsoft.com/office/powerpoint/2010/main" val="1471473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8E9A-8079-8787-A8A7-F532354F330A}"/>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A3E804B4-2418-45F6-D1CA-DD5BBF4FB22A}"/>
              </a:ext>
            </a:extLst>
          </p:cNvPr>
          <p:cNvSpPr>
            <a:spLocks noGrp="1"/>
          </p:cNvSpPr>
          <p:nvPr>
            <p:ph type="title"/>
          </p:nvPr>
        </p:nvSpPr>
        <p:spPr>
          <a:xfrm>
            <a:off x="896065" y="194753"/>
            <a:ext cx="10527400" cy="1036517"/>
          </a:xfrm>
        </p:spPr>
        <p:txBody>
          <a:bodyPr/>
          <a:lstStyle/>
          <a:p>
            <a:r>
              <a:rPr lang="en-US" dirty="0"/>
              <a:t>Service management: service orders</a:t>
            </a:r>
          </a:p>
        </p:txBody>
      </p:sp>
      <p:sp>
        <p:nvSpPr>
          <p:cNvPr id="11" name="Slide Number Placeholder 13">
            <a:extLst>
              <a:ext uri="{FF2B5EF4-FFF2-40B4-BE49-F238E27FC236}">
                <a16:creationId xmlns:a16="http://schemas.microsoft.com/office/drawing/2014/main" id="{647F43AA-08B5-28E3-FE6F-D73EED1A66D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F61845D5-95CF-6B4B-DF7C-FBEBAAEFED52}"/>
              </a:ext>
            </a:extLst>
          </p:cNvPr>
          <p:cNvSpPr>
            <a:spLocks noGrp="1"/>
          </p:cNvSpPr>
          <p:nvPr>
            <p:ph type="sldNum" sz="quarter" idx="55"/>
          </p:nvPr>
        </p:nvSpPr>
        <p:spPr/>
        <p:txBody>
          <a:bodyPr/>
          <a:lstStyle/>
          <a:p>
            <a:fld id="{47FEACEE-25B4-4A2D-B147-27296E36371D}" type="slidenum">
              <a:rPr lang="en-US" altLang="zh-CN" noProof="0" smtClean="0"/>
              <a:pPr/>
              <a:t>10</a:t>
            </a:fld>
            <a:endParaRPr lang="en-US" altLang="zh-CN" noProof="0" dirty="0"/>
          </a:p>
        </p:txBody>
      </p:sp>
      <p:pic>
        <p:nvPicPr>
          <p:cNvPr id="6" name="Content Placeholder 5">
            <a:extLst>
              <a:ext uri="{FF2B5EF4-FFF2-40B4-BE49-F238E27FC236}">
                <a16:creationId xmlns:a16="http://schemas.microsoft.com/office/drawing/2014/main" id="{C63C642D-C7D0-6724-0C7A-D72D9252E819}"/>
              </a:ext>
            </a:extLst>
          </p:cNvPr>
          <p:cNvPicPr>
            <a:picLocks noGrp="1" noChangeAspect="1"/>
          </p:cNvPicPr>
          <p:nvPr>
            <p:ph idx="56"/>
          </p:nvPr>
        </p:nvPicPr>
        <p:blipFill>
          <a:blip r:embed="rId3"/>
          <a:stretch>
            <a:fillRect/>
          </a:stretch>
        </p:blipFill>
        <p:spPr>
          <a:xfrm>
            <a:off x="1036742" y="1500294"/>
            <a:ext cx="7150973" cy="4715371"/>
          </a:xfrm>
          <a:prstGeom prst="rect">
            <a:avLst/>
          </a:prstGeom>
        </p:spPr>
      </p:pic>
    </p:spTree>
    <p:extLst>
      <p:ext uri="{BB962C8B-B14F-4D97-AF65-F5344CB8AC3E}">
        <p14:creationId xmlns:p14="http://schemas.microsoft.com/office/powerpoint/2010/main" val="1016534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8D8D-5D70-CFD5-63A8-C3C5971C6D0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0EBEEC1-CB3E-4713-C6BB-FF52B2F042AC}"/>
              </a:ext>
            </a:extLst>
          </p:cNvPr>
          <p:cNvSpPr>
            <a:spLocks noGrp="1"/>
          </p:cNvSpPr>
          <p:nvPr>
            <p:ph type="title"/>
          </p:nvPr>
        </p:nvSpPr>
        <p:spPr>
          <a:xfrm>
            <a:off x="989444" y="1558112"/>
            <a:ext cx="6846866" cy="647264"/>
          </a:xfrm>
        </p:spPr>
        <p:txBody>
          <a:bodyPr>
            <a:normAutofit/>
          </a:bodyPr>
          <a:lstStyle/>
          <a:p>
            <a:r>
              <a:rPr lang="en-US" dirty="0"/>
              <a:t>Service contract management</a:t>
            </a:r>
          </a:p>
        </p:txBody>
      </p:sp>
      <p:sp>
        <p:nvSpPr>
          <p:cNvPr id="43" name="Text Placeholder 42">
            <a:extLst>
              <a:ext uri="{FF2B5EF4-FFF2-40B4-BE49-F238E27FC236}">
                <a16:creationId xmlns:a16="http://schemas.microsoft.com/office/drawing/2014/main" id="{47E2EA7B-72D4-4729-30FC-AED3E1B8680F}"/>
              </a:ext>
            </a:extLst>
          </p:cNvPr>
          <p:cNvSpPr>
            <a:spLocks noGrp="1"/>
          </p:cNvSpPr>
          <p:nvPr>
            <p:ph idx="1"/>
          </p:nvPr>
        </p:nvSpPr>
        <p:spPr>
          <a:xfrm>
            <a:off x="914399" y="3108959"/>
            <a:ext cx="3539613" cy="3242679"/>
          </a:xfrm>
        </p:spPr>
        <p:txBody>
          <a:bodyPr>
            <a:normAutofit/>
          </a:bodyPr>
          <a:lstStyle/>
          <a:p>
            <a:r>
              <a:rPr lang="en-US" dirty="0"/>
              <a:t>You can set up an agreement with the customer that addresses the service level to be delivered, and maintain information on contract history, contract renewal, and contract templates. You can also generate contract quotes.</a:t>
            </a:r>
          </a:p>
        </p:txBody>
      </p:sp>
      <p:sp>
        <p:nvSpPr>
          <p:cNvPr id="11" name="Slide Number Placeholder 13">
            <a:extLst>
              <a:ext uri="{FF2B5EF4-FFF2-40B4-BE49-F238E27FC236}">
                <a16:creationId xmlns:a16="http://schemas.microsoft.com/office/drawing/2014/main" id="{DC643DCA-915F-151D-897F-EF5074EACA7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4422318-54A0-DED0-A1B5-03B5FE6015A0}"/>
              </a:ext>
            </a:extLst>
          </p:cNvPr>
          <p:cNvSpPr>
            <a:spLocks noGrp="1"/>
          </p:cNvSpPr>
          <p:nvPr>
            <p:ph type="sldNum" sz="quarter" idx="55"/>
          </p:nvPr>
        </p:nvSpPr>
        <p:spPr/>
        <p:txBody>
          <a:bodyPr/>
          <a:lstStyle/>
          <a:p>
            <a:fld id="{47FEACEE-25B4-4A2D-B147-27296E36371D}" type="slidenum">
              <a:rPr lang="en-US" altLang="zh-CN" noProof="0" smtClean="0"/>
              <a:pPr/>
              <a:t>11</a:t>
            </a:fld>
            <a:endParaRPr lang="en-US" altLang="zh-CN" noProof="0" dirty="0"/>
          </a:p>
        </p:txBody>
      </p:sp>
      <p:pic>
        <p:nvPicPr>
          <p:cNvPr id="1026" name="Picture 2" descr="Screenshot of the Service Contract page in Business Central.">
            <a:extLst>
              <a:ext uri="{FF2B5EF4-FFF2-40B4-BE49-F238E27FC236}">
                <a16:creationId xmlns:a16="http://schemas.microsoft.com/office/drawing/2014/main" id="{C6715FE0-B5D3-0395-69CD-9D37524B4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6750" y="3108959"/>
            <a:ext cx="4722021" cy="286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646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0165C-1B18-F221-DA59-C86D6543BF04}"/>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97D9DF33-FF72-C4FC-299E-56F0A3F03F74}"/>
              </a:ext>
            </a:extLst>
          </p:cNvPr>
          <p:cNvSpPr>
            <a:spLocks noGrp="1"/>
          </p:cNvSpPr>
          <p:nvPr>
            <p:ph type="title"/>
          </p:nvPr>
        </p:nvSpPr>
        <p:spPr>
          <a:xfrm>
            <a:off x="989444" y="1558112"/>
            <a:ext cx="6846866" cy="647264"/>
          </a:xfrm>
        </p:spPr>
        <p:txBody>
          <a:bodyPr>
            <a:normAutofit/>
          </a:bodyPr>
          <a:lstStyle/>
          <a:p>
            <a:r>
              <a:rPr lang="en-US" dirty="0"/>
              <a:t>Service price management</a:t>
            </a:r>
          </a:p>
        </p:txBody>
      </p:sp>
      <p:sp>
        <p:nvSpPr>
          <p:cNvPr id="43" name="Text Placeholder 42">
            <a:extLst>
              <a:ext uri="{FF2B5EF4-FFF2-40B4-BE49-F238E27FC236}">
                <a16:creationId xmlns:a16="http://schemas.microsoft.com/office/drawing/2014/main" id="{3715E18F-0434-D6F7-DB55-10E34DF5E437}"/>
              </a:ext>
            </a:extLst>
          </p:cNvPr>
          <p:cNvSpPr>
            <a:spLocks noGrp="1"/>
          </p:cNvSpPr>
          <p:nvPr>
            <p:ph idx="1"/>
          </p:nvPr>
        </p:nvSpPr>
        <p:spPr>
          <a:xfrm>
            <a:off x="989444" y="2528856"/>
            <a:ext cx="5378246" cy="3242679"/>
          </a:xfrm>
        </p:spPr>
        <p:txBody>
          <a:bodyPr>
            <a:normAutofit/>
          </a:bodyPr>
          <a:lstStyle/>
          <a:p>
            <a:r>
              <a:rPr lang="en-US" dirty="0"/>
              <a:t>With service price management, you can set up, maintain, and monitor service prices. You can also define price calculation structures that include all parameters that are involved in providing service</a:t>
            </a:r>
          </a:p>
        </p:txBody>
      </p:sp>
      <p:sp>
        <p:nvSpPr>
          <p:cNvPr id="11" name="Slide Number Placeholder 13">
            <a:extLst>
              <a:ext uri="{FF2B5EF4-FFF2-40B4-BE49-F238E27FC236}">
                <a16:creationId xmlns:a16="http://schemas.microsoft.com/office/drawing/2014/main" id="{C43CBD86-E493-1A0A-672A-170F8FACEBE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B737CFD-100C-50F4-1565-A5EB47B45773}"/>
              </a:ext>
            </a:extLst>
          </p:cNvPr>
          <p:cNvSpPr>
            <a:spLocks noGrp="1"/>
          </p:cNvSpPr>
          <p:nvPr>
            <p:ph type="sldNum" sz="quarter" idx="55"/>
          </p:nvPr>
        </p:nvSpPr>
        <p:spPr/>
        <p:txBody>
          <a:bodyPr/>
          <a:lstStyle/>
          <a:p>
            <a:fld id="{47FEACEE-25B4-4A2D-B147-27296E36371D}" type="slidenum">
              <a:rPr lang="en-US" altLang="zh-CN" noProof="0" smtClean="0"/>
              <a:pPr/>
              <a:t>12</a:t>
            </a:fld>
            <a:endParaRPr lang="en-US" altLang="zh-CN" noProof="0" dirty="0"/>
          </a:p>
        </p:txBody>
      </p:sp>
      <p:pic>
        <p:nvPicPr>
          <p:cNvPr id="2050" name="Picture 2" descr="Screenshot of how to adjust service prices.">
            <a:extLst>
              <a:ext uri="{FF2B5EF4-FFF2-40B4-BE49-F238E27FC236}">
                <a16:creationId xmlns:a16="http://schemas.microsoft.com/office/drawing/2014/main" id="{907933CB-E33A-9665-99F2-77F33F0629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115" y="4150195"/>
            <a:ext cx="10420350"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875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62</TotalTime>
  <Words>312</Words>
  <Application>Microsoft Office PowerPoint</Application>
  <PresentationFormat>Widescreen</PresentationFormat>
  <Paragraphs>74</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Abadi</vt:lpstr>
      <vt:lpstr>Arial</vt:lpstr>
      <vt:lpstr>Calibri</vt:lpstr>
      <vt:lpstr>Posterama</vt:lpstr>
      <vt:lpstr>Posterama Text SemiBold</vt:lpstr>
      <vt:lpstr>Custom</vt:lpstr>
      <vt:lpstr>MS Dynamics 365 service management </vt:lpstr>
      <vt:lpstr>Agenda </vt:lpstr>
      <vt:lpstr>MS Dynamics 365 service management</vt:lpstr>
      <vt:lpstr>Service management   </vt:lpstr>
      <vt:lpstr>Service management functionalities</vt:lpstr>
      <vt:lpstr>Service management components</vt:lpstr>
      <vt:lpstr>Service management</vt:lpstr>
      <vt:lpstr>Service management</vt:lpstr>
      <vt:lpstr>Service management: Items</vt:lpstr>
      <vt:lpstr>Service management: service orders</vt:lpstr>
      <vt:lpstr>Service contract management</vt:lpstr>
      <vt:lpstr>Service price management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3</cp:revision>
  <dcterms:created xsi:type="dcterms:W3CDTF">2026-05-18T13:07:38Z</dcterms:created>
  <dcterms:modified xsi:type="dcterms:W3CDTF">2026-05-27T13:42:41Z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